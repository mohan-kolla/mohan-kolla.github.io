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8" d="100"/>
          <a:sy n="128" d="100"/>
        </p:scale>
        <p:origin x="860" y="3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196519"/>
                </a:solidFill>
                <a:latin typeface="Bookman Old Style" panose="02050604050505020204" pitchFamily="18" charset="0"/>
                <a:cs typeface="Bookman Old Style" panose="02050604050505020204" pitchFamily="18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1F2833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FCFAF7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/>
              <a:t>‹#›</a:t>
            </a:fld>
            <a:r>
              <a:rPr spc="45" dirty="0"/>
              <a:t> </a:t>
            </a:r>
            <a:r>
              <a:rPr spc="195" dirty="0"/>
              <a:t>/</a:t>
            </a:r>
            <a:r>
              <a:rPr spc="50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7294" y="228864"/>
            <a:ext cx="2633345" cy="276999"/>
          </a:xfrm>
        </p:spPr>
        <p:txBody>
          <a:bodyPr lIns="0" tIns="0" rIns="0" bIns="0"/>
          <a:lstStyle>
            <a:lvl1pPr>
              <a:defRPr sz="1800" b="0" i="0">
                <a:solidFill>
                  <a:srgbClr val="196519"/>
                </a:solidFill>
                <a:latin typeface="Bookman Old Style" panose="02050604050505020204" pitchFamily="18" charset="0"/>
                <a:cs typeface="Bookman Old Style" panose="02050604050505020204" pitchFamily="18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1F2833"/>
                </a:solidFill>
                <a:latin typeface="Palatino Linotype"/>
                <a:cs typeface="Palatino Linotype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FCFAF7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/>
              <a:t>‹#›</a:t>
            </a:fld>
            <a:r>
              <a:rPr spc="45" dirty="0"/>
              <a:t> </a:t>
            </a:r>
            <a:r>
              <a:rPr spc="195" dirty="0"/>
              <a:t>/</a:t>
            </a:r>
            <a:r>
              <a:rPr spc="50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7294" y="228864"/>
            <a:ext cx="2633345" cy="184666"/>
          </a:xfrm>
        </p:spPr>
        <p:txBody>
          <a:bodyPr lIns="0" tIns="0" rIns="0" bIns="0"/>
          <a:lstStyle>
            <a:lvl1pPr>
              <a:defRPr sz="1200" b="0" i="0">
                <a:solidFill>
                  <a:srgbClr val="196519"/>
                </a:solidFill>
                <a:latin typeface="Baskerville Old Face" panose="02020602080505020303" pitchFamily="18" charset="0"/>
                <a:cs typeface="Baskerville Old Face" panose="02020602080505020303" pitchFamily="18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FCFAF7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/>
              <a:t>‹#›</a:t>
            </a:fld>
            <a:r>
              <a:rPr spc="45" dirty="0"/>
              <a:t> </a:t>
            </a:r>
            <a:r>
              <a:rPr spc="195" dirty="0"/>
              <a:t>/</a:t>
            </a:r>
            <a:r>
              <a:rPr spc="50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7294" y="228864"/>
            <a:ext cx="2633345" cy="184666"/>
          </a:xfrm>
        </p:spPr>
        <p:txBody>
          <a:bodyPr lIns="0" tIns="0" rIns="0" bIns="0"/>
          <a:lstStyle>
            <a:lvl1pPr>
              <a:defRPr sz="1200" b="0" i="0">
                <a:solidFill>
                  <a:srgbClr val="196519"/>
                </a:solidFill>
                <a:latin typeface="Baskerville Old Face" panose="02020602080505020303" pitchFamily="18" charset="0"/>
                <a:cs typeface="Baskerville Old Face" panose="02020602080505020303" pitchFamily="18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FCFAF7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/>
              <a:t>‹#›</a:t>
            </a:fld>
            <a:r>
              <a:rPr spc="45" dirty="0"/>
              <a:t> </a:t>
            </a:r>
            <a:r>
              <a:rPr spc="195" dirty="0"/>
              <a:t>/</a:t>
            </a:r>
            <a:r>
              <a:rPr spc="50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FCFAF7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/>
              <a:t>‹#›</a:t>
            </a:fld>
            <a:r>
              <a:rPr spc="45" dirty="0"/>
              <a:t> </a:t>
            </a:r>
            <a:r>
              <a:rPr spc="195" dirty="0"/>
              <a:t>/</a:t>
            </a:r>
            <a:r>
              <a:rPr spc="50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CFA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7294" y="228864"/>
            <a:ext cx="2633345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196519"/>
                </a:solidFill>
                <a:latin typeface="Arial Black"/>
                <a:cs typeface="Arial Black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4395" y="1092635"/>
            <a:ext cx="4378960" cy="11137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1F2833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255107" y="3002489"/>
            <a:ext cx="337820" cy="1739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FCFAF7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/>
              <a:t>‹#›</a:t>
            </a:fld>
            <a:r>
              <a:rPr spc="45" dirty="0"/>
              <a:t> </a:t>
            </a:r>
            <a:r>
              <a:rPr spc="195" dirty="0"/>
              <a:t>/</a:t>
            </a:r>
            <a:r>
              <a:rPr spc="50" dirty="0"/>
              <a:t> </a:t>
            </a:r>
            <a:r>
              <a:rPr spc="-25" dirty="0"/>
              <a:t>14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Bookman Old Style" panose="02050604050505020204" pitchFamily="18" charset="0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slide" Target="slide1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slide" Target="slide1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pandas.pydata.org/" TargetMode="External"/><Relationship Id="rId3" Type="http://schemas.openxmlformats.org/officeDocument/2006/relationships/image" Target="../media/image39.png"/><Relationship Id="rId7" Type="http://schemas.openxmlformats.org/officeDocument/2006/relationships/hyperlink" Target="https://doi.org/10.1109/MCSE.2007.55" TargetMode="External"/><Relationship Id="rId12" Type="http://schemas.openxmlformats.org/officeDocument/2006/relationships/slide" Target="slide1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hyperlink" Target="https://doi.org/10.1038/s41592-019-0686-2" TargetMode="External"/><Relationship Id="rId5" Type="http://schemas.openxmlformats.org/officeDocument/2006/relationships/image" Target="../media/image41.png"/><Relationship Id="rId10" Type="http://schemas.openxmlformats.org/officeDocument/2006/relationships/hyperlink" Target="https://www.eia.gov/" TargetMode="External"/><Relationship Id="rId4" Type="http://schemas.openxmlformats.org/officeDocument/2006/relationships/image" Target="../media/image40.png"/><Relationship Id="rId9" Type="http://schemas.openxmlformats.org/officeDocument/2006/relationships/hyperlink" Target="https://www.statsmodels.org/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12494" y="707171"/>
            <a:ext cx="4808805" cy="2635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5"/>
              </a:spcBef>
            </a:pPr>
            <a:r>
              <a:rPr sz="1600" spc="-135" dirty="0">
                <a:latin typeface="Bookman Old Style" panose="02050604050505020204" pitchFamily="18" charset="0"/>
              </a:rPr>
              <a:t>Statistical</a:t>
            </a:r>
            <a:r>
              <a:rPr sz="1600" spc="15" dirty="0">
                <a:latin typeface="Bookman Old Style" panose="02050604050505020204" pitchFamily="18" charset="0"/>
              </a:rPr>
              <a:t> </a:t>
            </a:r>
            <a:r>
              <a:rPr sz="1600" spc="-160" dirty="0">
                <a:latin typeface="Bookman Old Style" panose="02050604050505020204" pitchFamily="18" charset="0"/>
              </a:rPr>
              <a:t>Analysis</a:t>
            </a:r>
            <a:r>
              <a:rPr sz="1600" spc="45" dirty="0">
                <a:latin typeface="Bookman Old Style" panose="02050604050505020204" pitchFamily="18" charset="0"/>
              </a:rPr>
              <a:t> </a:t>
            </a:r>
            <a:r>
              <a:rPr sz="1600" spc="-55" dirty="0">
                <a:latin typeface="Bookman Old Style" panose="02050604050505020204" pitchFamily="18" charset="0"/>
              </a:rPr>
              <a:t>of</a:t>
            </a:r>
            <a:r>
              <a:rPr sz="1600" spc="10" dirty="0">
                <a:latin typeface="Bookman Old Style" panose="02050604050505020204" pitchFamily="18" charset="0"/>
              </a:rPr>
              <a:t> </a:t>
            </a:r>
            <a:r>
              <a:rPr sz="1600" spc="-120" dirty="0">
                <a:latin typeface="Bookman Old Style" panose="02050604050505020204" pitchFamily="18" charset="0"/>
              </a:rPr>
              <a:t>Retail</a:t>
            </a:r>
            <a:r>
              <a:rPr sz="1600" spc="30" dirty="0">
                <a:latin typeface="Bookman Old Style" panose="02050604050505020204" pitchFamily="18" charset="0"/>
              </a:rPr>
              <a:t> </a:t>
            </a:r>
            <a:r>
              <a:rPr sz="1600" spc="-135" dirty="0">
                <a:latin typeface="Bookman Old Style" panose="02050604050505020204" pitchFamily="18" charset="0"/>
              </a:rPr>
              <a:t>Electricity</a:t>
            </a:r>
            <a:r>
              <a:rPr sz="1600" spc="30" dirty="0">
                <a:latin typeface="Bookman Old Style" panose="02050604050505020204" pitchFamily="18" charset="0"/>
              </a:rPr>
              <a:t> </a:t>
            </a:r>
            <a:r>
              <a:rPr sz="1600" spc="-185" dirty="0">
                <a:latin typeface="Bookman Old Style" panose="02050604050505020204" pitchFamily="18" charset="0"/>
              </a:rPr>
              <a:t>Sales</a:t>
            </a:r>
            <a:r>
              <a:rPr sz="1600" spc="55" dirty="0">
                <a:latin typeface="Bookman Old Style" panose="02050604050505020204" pitchFamily="18" charset="0"/>
              </a:rPr>
              <a:t> </a:t>
            </a:r>
            <a:r>
              <a:rPr sz="1600" spc="-75" dirty="0">
                <a:latin typeface="Bookman Old Style" panose="02050604050505020204" pitchFamily="18" charset="0"/>
              </a:rPr>
              <a:t>in</a:t>
            </a:r>
            <a:r>
              <a:rPr sz="1600" spc="30" dirty="0">
                <a:latin typeface="Bookman Old Style" panose="02050604050505020204" pitchFamily="18" charset="0"/>
              </a:rPr>
              <a:t> </a:t>
            </a:r>
            <a:r>
              <a:rPr sz="1600" spc="-120" dirty="0">
                <a:latin typeface="Bookman Old Style" panose="02050604050505020204" pitchFamily="18" charset="0"/>
              </a:rPr>
              <a:t>the</a:t>
            </a:r>
            <a:r>
              <a:rPr sz="1600" spc="35" dirty="0">
                <a:latin typeface="Bookman Old Style" panose="02050604050505020204" pitchFamily="18" charset="0"/>
              </a:rPr>
              <a:t> </a:t>
            </a:r>
            <a:r>
              <a:rPr sz="1600" spc="-20" dirty="0">
                <a:latin typeface="Bookman Old Style" panose="02050604050505020204" pitchFamily="18" charset="0"/>
              </a:rPr>
              <a:t>U.S</a:t>
            </a:r>
            <a:r>
              <a:rPr sz="1600" spc="-20" dirty="0"/>
              <a:t>.</a:t>
            </a:r>
            <a:endParaRPr sz="1600" dirty="0"/>
          </a:p>
        </p:txBody>
      </p:sp>
      <p:sp>
        <p:nvSpPr>
          <p:cNvPr id="3" name="object 3"/>
          <p:cNvSpPr txBox="1"/>
          <p:nvPr/>
        </p:nvSpPr>
        <p:spPr>
          <a:xfrm>
            <a:off x="1216291" y="972996"/>
            <a:ext cx="3326765" cy="164019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200" spc="-105" dirty="0">
                <a:solidFill>
                  <a:srgbClr val="C56C2E"/>
                </a:solidFill>
                <a:latin typeface="Bookman Old Style" panose="02050604050505020204" pitchFamily="18" charset="0"/>
                <a:cs typeface="Arial Black"/>
              </a:rPr>
              <a:t>Multiregional,</a:t>
            </a:r>
            <a:r>
              <a:rPr sz="1200" spc="60" dirty="0">
                <a:solidFill>
                  <a:srgbClr val="C56C2E"/>
                </a:solidFill>
                <a:latin typeface="Bookman Old Style" panose="02050604050505020204" pitchFamily="18" charset="0"/>
                <a:cs typeface="Arial Black"/>
              </a:rPr>
              <a:t> </a:t>
            </a:r>
            <a:r>
              <a:rPr sz="1200" spc="-120" dirty="0">
                <a:solidFill>
                  <a:srgbClr val="C56C2E"/>
                </a:solidFill>
                <a:latin typeface="Bookman Old Style" panose="02050604050505020204" pitchFamily="18" charset="0"/>
                <a:cs typeface="Arial Black"/>
              </a:rPr>
              <a:t>Multisector</a:t>
            </a:r>
            <a:r>
              <a:rPr sz="1200" spc="60" dirty="0">
                <a:solidFill>
                  <a:srgbClr val="C56C2E"/>
                </a:solidFill>
                <a:latin typeface="Bookman Old Style" panose="02050604050505020204" pitchFamily="18" charset="0"/>
                <a:cs typeface="Arial Black"/>
              </a:rPr>
              <a:t> </a:t>
            </a:r>
            <a:r>
              <a:rPr sz="1200" spc="-100" dirty="0">
                <a:solidFill>
                  <a:srgbClr val="C56C2E"/>
                </a:solidFill>
                <a:latin typeface="Bookman Old Style" panose="02050604050505020204" pitchFamily="18" charset="0"/>
                <a:cs typeface="Arial Black"/>
              </a:rPr>
              <a:t>Time</a:t>
            </a:r>
            <a:r>
              <a:rPr sz="1200" spc="60" dirty="0">
                <a:solidFill>
                  <a:srgbClr val="C56C2E"/>
                </a:solidFill>
                <a:latin typeface="Bookman Old Style" panose="02050604050505020204" pitchFamily="18" charset="0"/>
                <a:cs typeface="Arial Black"/>
              </a:rPr>
              <a:t> </a:t>
            </a:r>
            <a:r>
              <a:rPr sz="1200" spc="-155" dirty="0">
                <a:solidFill>
                  <a:srgbClr val="C56C2E"/>
                </a:solidFill>
                <a:latin typeface="Bookman Old Style" panose="02050604050505020204" pitchFamily="18" charset="0"/>
                <a:cs typeface="Arial Black"/>
              </a:rPr>
              <a:t>Series</a:t>
            </a:r>
            <a:r>
              <a:rPr sz="1200" spc="60" dirty="0">
                <a:solidFill>
                  <a:srgbClr val="C56C2E"/>
                </a:solidFill>
                <a:latin typeface="Bookman Old Style" panose="02050604050505020204" pitchFamily="18" charset="0"/>
                <a:cs typeface="Arial Black"/>
              </a:rPr>
              <a:t> </a:t>
            </a:r>
            <a:r>
              <a:rPr sz="1200" spc="-105" dirty="0">
                <a:solidFill>
                  <a:srgbClr val="C56C2E"/>
                </a:solidFill>
                <a:latin typeface="Bookman Old Style" panose="02050604050505020204" pitchFamily="18" charset="0"/>
                <a:cs typeface="Arial Black"/>
              </a:rPr>
              <a:t>(2014–</a:t>
            </a:r>
            <a:r>
              <a:rPr sz="1200" spc="-10" dirty="0">
                <a:solidFill>
                  <a:srgbClr val="C56C2E"/>
                </a:solidFill>
                <a:latin typeface="Bookman Old Style" panose="02050604050505020204" pitchFamily="18" charset="0"/>
                <a:cs typeface="Arial Black"/>
              </a:rPr>
              <a:t>2024)</a:t>
            </a:r>
            <a:endParaRPr sz="1200" dirty="0">
              <a:latin typeface="Bookman Old Style" panose="02050604050505020204" pitchFamily="18" charset="0"/>
              <a:cs typeface="Arial Black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1200" dirty="0">
              <a:latin typeface="Bookman Old Style" panose="02050604050505020204" pitchFamily="18" charset="0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spc="-35" dirty="0">
                <a:solidFill>
                  <a:srgbClr val="1F2833"/>
                </a:solidFill>
                <a:latin typeface="Bookman Old Style" panose="02050604050505020204" pitchFamily="18" charset="0"/>
                <a:cs typeface="Tahoma"/>
              </a:rPr>
              <a:t>Mohankrishna</a:t>
            </a:r>
            <a:r>
              <a:rPr sz="1200" spc="-25" dirty="0">
                <a:solidFill>
                  <a:srgbClr val="1F2833"/>
                </a:solidFill>
                <a:latin typeface="Bookman Old Style" panose="02050604050505020204" pitchFamily="18" charset="0"/>
                <a:cs typeface="Tahoma"/>
              </a:rPr>
              <a:t> </a:t>
            </a:r>
            <a:r>
              <a:rPr sz="1200" spc="-20" dirty="0">
                <a:solidFill>
                  <a:srgbClr val="1F2833"/>
                </a:solidFill>
                <a:latin typeface="Bookman Old Style" panose="02050604050505020204" pitchFamily="18" charset="0"/>
                <a:cs typeface="Tahoma"/>
              </a:rPr>
              <a:t>Kolla</a:t>
            </a:r>
            <a:endParaRPr sz="1200" dirty="0">
              <a:latin typeface="Bookman Old Style" panose="02050604050505020204" pitchFamily="18" charset="0"/>
              <a:cs typeface="Tahoma"/>
            </a:endParaRPr>
          </a:p>
          <a:p>
            <a:pPr marL="1270" algn="ctr">
              <a:lnSpc>
                <a:spcPct val="100000"/>
              </a:lnSpc>
              <a:spcBef>
                <a:spcPts val="1225"/>
              </a:spcBef>
            </a:pPr>
            <a:r>
              <a:rPr sz="900" dirty="0">
                <a:solidFill>
                  <a:srgbClr val="1F2833"/>
                </a:solidFill>
                <a:latin typeface="Bookman Old Style" panose="02050604050505020204" pitchFamily="18" charset="0"/>
                <a:cs typeface="Arial"/>
              </a:rPr>
              <a:t>Florida</a:t>
            </a:r>
            <a:r>
              <a:rPr sz="900" spc="35" dirty="0">
                <a:solidFill>
                  <a:srgbClr val="1F2833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sz="900" dirty="0">
                <a:solidFill>
                  <a:srgbClr val="1F2833"/>
                </a:solidFill>
                <a:latin typeface="Bookman Old Style" panose="02050604050505020204" pitchFamily="18" charset="0"/>
                <a:cs typeface="Arial"/>
              </a:rPr>
              <a:t>International</a:t>
            </a:r>
            <a:r>
              <a:rPr sz="900" spc="35" dirty="0">
                <a:solidFill>
                  <a:srgbClr val="1F2833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sz="900" spc="-10" dirty="0">
                <a:solidFill>
                  <a:srgbClr val="1F2833"/>
                </a:solidFill>
                <a:latin typeface="Bookman Old Style" panose="02050604050505020204" pitchFamily="18" charset="0"/>
                <a:cs typeface="Arial"/>
              </a:rPr>
              <a:t>University</a:t>
            </a:r>
            <a:endParaRPr lang="en-US" sz="900" spc="-10" dirty="0">
              <a:solidFill>
                <a:srgbClr val="1F2833"/>
              </a:solidFill>
              <a:latin typeface="Bookman Old Style" panose="02050604050505020204" pitchFamily="18" charset="0"/>
              <a:cs typeface="Arial"/>
            </a:endParaRPr>
          </a:p>
          <a:p>
            <a:pPr marL="1270" algn="ctr">
              <a:lnSpc>
                <a:spcPct val="100000"/>
              </a:lnSpc>
              <a:spcBef>
                <a:spcPts val="1225"/>
              </a:spcBef>
            </a:pPr>
            <a:r>
              <a:rPr lang="en-US" sz="900" spc="-10" dirty="0">
                <a:solidFill>
                  <a:srgbClr val="1F2833"/>
                </a:solidFill>
                <a:latin typeface="Bookman Old Style" panose="02050604050505020204" pitchFamily="18" charset="0"/>
                <a:cs typeface="Arial"/>
              </a:rPr>
              <a:t>STA6244 – Data Analysis I</a:t>
            </a:r>
            <a:endParaRPr sz="900" dirty="0">
              <a:latin typeface="Bookman Old Style" panose="02050604050505020204" pitchFamily="18" charset="0"/>
              <a:cs typeface="Arial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900" dirty="0">
              <a:latin typeface="Bookman Old Style" panose="02050604050505020204" pitchFamily="18" charset="0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200" spc="-50" dirty="0">
                <a:solidFill>
                  <a:srgbClr val="1F2833"/>
                </a:solidFill>
                <a:latin typeface="Bookman Old Style" panose="02050604050505020204" pitchFamily="18" charset="0"/>
                <a:cs typeface="Tahoma"/>
              </a:rPr>
              <a:t>December</a:t>
            </a:r>
            <a:r>
              <a:rPr sz="1200" spc="-40" dirty="0">
                <a:solidFill>
                  <a:srgbClr val="1F2833"/>
                </a:solidFill>
                <a:latin typeface="Bookman Old Style" panose="02050604050505020204" pitchFamily="18" charset="0"/>
                <a:cs typeface="Tahoma"/>
              </a:rPr>
              <a:t> </a:t>
            </a:r>
            <a:r>
              <a:rPr sz="1200" dirty="0">
                <a:solidFill>
                  <a:srgbClr val="1F2833"/>
                </a:solidFill>
                <a:latin typeface="Bookman Old Style" panose="02050604050505020204" pitchFamily="18" charset="0"/>
                <a:cs typeface="Tahoma"/>
              </a:rPr>
              <a:t>4,</a:t>
            </a:r>
            <a:r>
              <a:rPr sz="1200" spc="-75" dirty="0">
                <a:solidFill>
                  <a:srgbClr val="1F2833"/>
                </a:solidFill>
                <a:latin typeface="Bookman Old Style" panose="02050604050505020204" pitchFamily="18" charset="0"/>
                <a:cs typeface="Tahoma"/>
              </a:rPr>
              <a:t> </a:t>
            </a:r>
            <a:r>
              <a:rPr sz="1200" spc="-20" dirty="0">
                <a:solidFill>
                  <a:srgbClr val="1F2833"/>
                </a:solidFill>
                <a:latin typeface="Bookman Old Style" panose="02050604050505020204" pitchFamily="18" charset="0"/>
                <a:cs typeface="Tahoma"/>
              </a:rPr>
              <a:t>2025</a:t>
            </a:r>
            <a:endParaRPr sz="1200" dirty="0">
              <a:latin typeface="Bookman Old Style" panose="02050604050505020204" pitchFamily="18" charset="0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228864"/>
            <a:ext cx="4593006" cy="2891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80" dirty="0">
                <a:latin typeface="Bookman Old Style" panose="02050604050505020204" pitchFamily="18" charset="0"/>
              </a:rPr>
              <a:t>Research</a:t>
            </a:r>
            <a:r>
              <a:rPr spc="45" dirty="0">
                <a:latin typeface="Bookman Old Style" panose="02050604050505020204" pitchFamily="18" charset="0"/>
              </a:rPr>
              <a:t> </a:t>
            </a:r>
            <a:r>
              <a:rPr spc="-150" dirty="0">
                <a:latin typeface="Bookman Old Style" panose="02050604050505020204" pitchFamily="18" charset="0"/>
              </a:rPr>
              <a:t>Questions</a:t>
            </a:r>
            <a:r>
              <a:rPr spc="45" dirty="0">
                <a:latin typeface="Bookman Old Style" panose="02050604050505020204" pitchFamily="18" charset="0"/>
              </a:rPr>
              <a:t> </a:t>
            </a:r>
            <a:r>
              <a:rPr dirty="0">
                <a:latin typeface="Bookman Old Style" panose="02050604050505020204" pitchFamily="18" charset="0"/>
              </a:rPr>
              <a:t>&amp;</a:t>
            </a:r>
            <a:r>
              <a:rPr spc="45" dirty="0">
                <a:latin typeface="Bookman Old Style" panose="02050604050505020204" pitchFamily="18" charset="0"/>
              </a:rPr>
              <a:t> </a:t>
            </a:r>
            <a:r>
              <a:rPr spc="-95" dirty="0">
                <a:latin typeface="Bookman Old Style" panose="02050604050505020204" pitchFamily="18" charset="0"/>
              </a:rPr>
              <a:t>Motivation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533081"/>
            <a:ext cx="5400040" cy="33020"/>
            <a:chOff x="359994" y="533081"/>
            <a:chExt cx="5400040" cy="33020"/>
          </a:xfrm>
        </p:grpSpPr>
        <p:sp>
          <p:nvSpPr>
            <p:cNvPr id="4" name="object 4"/>
            <p:cNvSpPr/>
            <p:nvPr/>
          </p:nvSpPr>
          <p:spPr>
            <a:xfrm>
              <a:off x="359994" y="543880"/>
              <a:ext cx="5400040" cy="22225"/>
            </a:xfrm>
            <a:custGeom>
              <a:avLst/>
              <a:gdLst/>
              <a:ahLst/>
              <a:cxnLst/>
              <a:rect l="l" t="t" r="r" b="b"/>
              <a:pathLst>
                <a:path w="5400040" h="22225">
                  <a:moveTo>
                    <a:pt x="5400001" y="0"/>
                  </a:moveTo>
                  <a:lnTo>
                    <a:pt x="0" y="0"/>
                  </a:lnTo>
                  <a:lnTo>
                    <a:pt x="0" y="21599"/>
                  </a:lnTo>
                  <a:lnTo>
                    <a:pt x="5400001" y="21599"/>
                  </a:lnTo>
                  <a:lnTo>
                    <a:pt x="5400001" y="0"/>
                  </a:lnTo>
                  <a:close/>
                </a:path>
              </a:pathLst>
            </a:custGeom>
            <a:solidFill>
              <a:srgbClr val="1965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9994" y="533081"/>
              <a:ext cx="2592070" cy="10795"/>
            </a:xfrm>
            <a:custGeom>
              <a:avLst/>
              <a:gdLst/>
              <a:ahLst/>
              <a:cxnLst/>
              <a:rect l="l" t="t" r="r" b="b"/>
              <a:pathLst>
                <a:path w="2592070" h="10795">
                  <a:moveTo>
                    <a:pt x="0" y="10799"/>
                  </a:moveTo>
                  <a:lnTo>
                    <a:pt x="0" y="0"/>
                  </a:lnTo>
                  <a:lnTo>
                    <a:pt x="2592015" y="0"/>
                  </a:lnTo>
                  <a:lnTo>
                    <a:pt x="2592015" y="10799"/>
                  </a:lnTo>
                  <a:lnTo>
                    <a:pt x="0" y="10799"/>
                  </a:lnTo>
                  <a:close/>
                </a:path>
              </a:pathLst>
            </a:custGeom>
            <a:solidFill>
              <a:srgbClr val="F3A1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551" y="1133144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2327" y="1322959"/>
            <a:ext cx="52590" cy="525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2327" y="1474787"/>
            <a:ext cx="52590" cy="5259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2551" y="1672145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2551" y="2272207"/>
            <a:ext cx="65265" cy="652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02551" y="2482240"/>
            <a:ext cx="65265" cy="6526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47294" y="836368"/>
            <a:ext cx="3740785" cy="175450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100" spc="-135" dirty="0">
                <a:solidFill>
                  <a:srgbClr val="1F2833"/>
                </a:solidFill>
                <a:latin typeface="Arial Black"/>
                <a:cs typeface="Arial Black"/>
              </a:rPr>
              <a:t>Core</a:t>
            </a:r>
            <a:r>
              <a:rPr sz="1100" spc="45" dirty="0">
                <a:solidFill>
                  <a:srgbClr val="1F2833"/>
                </a:solidFill>
                <a:latin typeface="Arial Black"/>
                <a:cs typeface="Arial Black"/>
              </a:rPr>
              <a:t> </a:t>
            </a:r>
            <a:r>
              <a:rPr sz="1100" spc="-45" dirty="0">
                <a:solidFill>
                  <a:srgbClr val="1F2833"/>
                </a:solidFill>
                <a:latin typeface="Arial Black"/>
                <a:cs typeface="Arial Black"/>
              </a:rPr>
              <a:t>questions</a:t>
            </a:r>
            <a:endParaRPr sz="1100" dirty="0">
              <a:latin typeface="Arial Black"/>
              <a:cs typeface="Arial Black"/>
            </a:endParaRPr>
          </a:p>
          <a:p>
            <a:pPr marL="289560">
              <a:lnSpc>
                <a:spcPct val="100000"/>
              </a:lnSpc>
              <a:spcBef>
                <a:spcPts val="175"/>
              </a:spcBef>
            </a:pPr>
            <a:r>
              <a:rPr sz="1100" spc="-20" dirty="0">
                <a:solidFill>
                  <a:srgbClr val="1F2833"/>
                </a:solidFill>
                <a:latin typeface="Tahoma"/>
                <a:cs typeface="Tahoma"/>
              </a:rPr>
              <a:t>How</a:t>
            </a:r>
            <a:r>
              <a:rPr sz="1100" spc="-4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do</a:t>
            </a: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retail</a:t>
            </a:r>
            <a:r>
              <a:rPr sz="1100" spc="-4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electricity</a:t>
            </a:r>
            <a:r>
              <a:rPr sz="1100" spc="-4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1F2833"/>
                </a:solidFill>
                <a:latin typeface="Tahoma"/>
                <a:cs typeface="Tahoma"/>
              </a:rPr>
              <a:t>sales</a:t>
            </a:r>
            <a:r>
              <a:rPr sz="1100" spc="-3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differ</a:t>
            </a:r>
            <a:r>
              <a:rPr sz="1100" spc="-4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across:</a:t>
            </a:r>
            <a:endParaRPr sz="1100" dirty="0">
              <a:latin typeface="Tahoma"/>
              <a:cs typeface="Tahoma"/>
            </a:endParaRPr>
          </a:p>
          <a:p>
            <a:pPr marL="566420" marR="5080">
              <a:lnSpc>
                <a:spcPct val="100000"/>
              </a:lnSpc>
              <a:spcBef>
                <a:spcPts val="175"/>
              </a:spcBef>
            </a:pPr>
            <a:r>
              <a:rPr sz="1000" spc="-35" dirty="0">
                <a:solidFill>
                  <a:srgbClr val="1F2833"/>
                </a:solidFill>
                <a:latin typeface="Tahoma"/>
                <a:cs typeface="Tahoma"/>
              </a:rPr>
              <a:t>Sectors:</a:t>
            </a:r>
            <a:r>
              <a:rPr sz="1000" spc="9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000" spc="-35" dirty="0">
                <a:solidFill>
                  <a:srgbClr val="1F2833"/>
                </a:solidFill>
                <a:latin typeface="Tahoma"/>
                <a:cs typeface="Tahoma"/>
              </a:rPr>
              <a:t>Residential,</a:t>
            </a:r>
            <a:r>
              <a:rPr sz="1000" spc="-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1F2833"/>
                </a:solidFill>
                <a:latin typeface="Tahoma"/>
                <a:cs typeface="Tahoma"/>
              </a:rPr>
              <a:t>Commercial,</a:t>
            </a:r>
            <a:r>
              <a:rPr sz="1000" spc="-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000" spc="-35" dirty="0">
                <a:solidFill>
                  <a:srgbClr val="1F2833"/>
                </a:solidFill>
                <a:latin typeface="Tahoma"/>
                <a:cs typeface="Tahoma"/>
              </a:rPr>
              <a:t>Industrial,</a:t>
            </a:r>
            <a:r>
              <a:rPr sz="1000" spc="-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F2833"/>
                </a:solidFill>
                <a:latin typeface="Tahoma"/>
                <a:cs typeface="Tahoma"/>
              </a:rPr>
              <a:t>Transportation </a:t>
            </a:r>
            <a:r>
              <a:rPr sz="1000" spc="-35" dirty="0">
                <a:solidFill>
                  <a:srgbClr val="1F2833"/>
                </a:solidFill>
                <a:latin typeface="Tahoma"/>
                <a:cs typeface="Tahoma"/>
              </a:rPr>
              <a:t>Regions:</a:t>
            </a:r>
            <a:r>
              <a:rPr sz="1000" spc="5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1F2833"/>
                </a:solidFill>
                <a:latin typeface="Tahoma"/>
                <a:cs typeface="Tahoma"/>
              </a:rPr>
              <a:t>Northeast, </a:t>
            </a:r>
            <a:r>
              <a:rPr sz="1000" spc="-20" dirty="0">
                <a:solidFill>
                  <a:srgbClr val="1F2833"/>
                </a:solidFill>
                <a:latin typeface="Tahoma"/>
                <a:cs typeface="Tahoma"/>
              </a:rPr>
              <a:t>Midwest,</a:t>
            </a:r>
            <a:r>
              <a:rPr sz="1000" spc="-3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1F2833"/>
                </a:solidFill>
                <a:latin typeface="Tahoma"/>
                <a:cs typeface="Tahoma"/>
              </a:rPr>
              <a:t>South,</a:t>
            </a:r>
            <a:r>
              <a:rPr sz="1000" spc="-3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1F2833"/>
                </a:solidFill>
                <a:latin typeface="Tahoma"/>
                <a:cs typeface="Tahoma"/>
              </a:rPr>
              <a:t>West</a:t>
            </a:r>
            <a:endParaRPr sz="1000" dirty="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50"/>
              </a:spcBef>
            </a:pPr>
            <a:r>
              <a:rPr sz="1100" spc="-85" dirty="0">
                <a:solidFill>
                  <a:srgbClr val="1F2833"/>
                </a:solidFill>
                <a:latin typeface="Tahoma"/>
                <a:cs typeface="Tahoma"/>
              </a:rPr>
              <a:t>Is</a:t>
            </a:r>
            <a:r>
              <a:rPr sz="1100" spc="-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F2833"/>
                </a:solidFill>
                <a:latin typeface="Tahoma"/>
                <a:cs typeface="Tahoma"/>
              </a:rPr>
              <a:t>there</a:t>
            </a:r>
            <a:r>
              <a:rPr sz="1100" spc="-5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F2833"/>
                </a:solidFill>
                <a:latin typeface="Tahoma"/>
                <a:cs typeface="Tahoma"/>
              </a:rPr>
              <a:t>a</a:t>
            </a: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F2833"/>
                </a:solidFill>
                <a:latin typeface="Tahoma"/>
                <a:cs typeface="Tahoma"/>
              </a:rPr>
              <a:t>long-</a:t>
            </a: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term national</a:t>
            </a:r>
            <a:r>
              <a:rPr sz="1100" spc="-30" dirty="0">
                <a:solidFill>
                  <a:srgbClr val="1F2833"/>
                </a:solidFill>
                <a:latin typeface="Tahoma"/>
                <a:cs typeface="Tahoma"/>
              </a:rPr>
              <a:t> trend</a:t>
            </a: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1F2833"/>
                </a:solidFill>
                <a:latin typeface="Tahoma"/>
                <a:cs typeface="Tahoma"/>
              </a:rPr>
              <a:t>(2014–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2024)?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100" spc="-55" dirty="0">
                <a:solidFill>
                  <a:srgbClr val="1F2833"/>
                </a:solidFill>
                <a:latin typeface="Arial Black"/>
                <a:cs typeface="Arial Black"/>
              </a:rPr>
              <a:t>Why</a:t>
            </a:r>
            <a:r>
              <a:rPr sz="1100" spc="-40" dirty="0">
                <a:solidFill>
                  <a:srgbClr val="1F2833"/>
                </a:solidFill>
                <a:latin typeface="Arial Black"/>
                <a:cs typeface="Arial Black"/>
              </a:rPr>
              <a:t> </a:t>
            </a:r>
            <a:r>
              <a:rPr sz="1100" spc="-20" dirty="0">
                <a:solidFill>
                  <a:srgbClr val="1F2833"/>
                </a:solidFill>
                <a:latin typeface="Arial Black"/>
                <a:cs typeface="Arial Black"/>
              </a:rPr>
              <a:t>it</a:t>
            </a:r>
            <a:r>
              <a:rPr sz="1100" spc="-60" dirty="0">
                <a:solidFill>
                  <a:srgbClr val="1F2833"/>
                </a:solidFill>
                <a:latin typeface="Arial Black"/>
                <a:cs typeface="Arial Black"/>
              </a:rPr>
              <a:t> </a:t>
            </a:r>
            <a:r>
              <a:rPr sz="1100" spc="-10" dirty="0">
                <a:solidFill>
                  <a:srgbClr val="1F2833"/>
                </a:solidFill>
                <a:latin typeface="Arial Black"/>
                <a:cs typeface="Arial Black"/>
              </a:rPr>
              <a:t>matters</a:t>
            </a:r>
            <a:endParaRPr sz="1100" dirty="0">
              <a:latin typeface="Arial Black"/>
              <a:cs typeface="Arial Black"/>
            </a:endParaRPr>
          </a:p>
          <a:p>
            <a:pPr marL="289560" marR="1283970">
              <a:lnSpc>
                <a:spcPct val="125299"/>
              </a:lnSpc>
            </a:pPr>
            <a:r>
              <a:rPr sz="1100" spc="-50" dirty="0">
                <a:solidFill>
                  <a:srgbClr val="1F2833"/>
                </a:solidFill>
                <a:latin typeface="Tahoma"/>
                <a:cs typeface="Tahoma"/>
              </a:rPr>
              <a:t>Demand</a:t>
            </a:r>
            <a:r>
              <a:rPr sz="1100" spc="-1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F2833"/>
                </a:solidFill>
                <a:latin typeface="Tahoma"/>
                <a:cs typeface="Tahoma"/>
              </a:rPr>
              <a:t>forecasting</a:t>
            </a:r>
            <a:r>
              <a:rPr sz="1100" spc="-1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85" dirty="0">
                <a:solidFill>
                  <a:srgbClr val="1F2833"/>
                </a:solidFill>
                <a:latin typeface="Tahoma"/>
                <a:cs typeface="Tahoma"/>
              </a:rPr>
              <a:t>&amp;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grid</a:t>
            </a:r>
            <a:r>
              <a:rPr sz="1100" spc="-1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planning </a:t>
            </a: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Regional </a:t>
            </a:r>
            <a:r>
              <a:rPr sz="1100" spc="-65" dirty="0">
                <a:solidFill>
                  <a:srgbClr val="1F2833"/>
                </a:solidFill>
                <a:latin typeface="Tahoma"/>
                <a:cs typeface="Tahoma"/>
              </a:rPr>
              <a:t>energy</a:t>
            </a:r>
            <a:r>
              <a:rPr sz="1100" spc="-2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policy</a:t>
            </a: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85" dirty="0">
                <a:solidFill>
                  <a:srgbClr val="1F2833"/>
                </a:solidFill>
                <a:latin typeface="Tahoma"/>
                <a:cs typeface="Tahoma"/>
              </a:rPr>
              <a:t>&amp;</a:t>
            </a: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F2833"/>
                </a:solidFill>
                <a:latin typeface="Tahoma"/>
                <a:cs typeface="Tahoma"/>
              </a:rPr>
              <a:t>climate risk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023997"/>
            <a:ext cx="5760085" cy="216535"/>
          </a:xfrm>
          <a:custGeom>
            <a:avLst/>
            <a:gdLst/>
            <a:ahLst/>
            <a:cxnLst/>
            <a:rect l="l" t="t" r="r" b="b"/>
            <a:pathLst>
              <a:path w="5760085" h="216535">
                <a:moveTo>
                  <a:pt x="5759996" y="0"/>
                </a:moveTo>
                <a:lnTo>
                  <a:pt x="0" y="0"/>
                </a:lnTo>
                <a:lnTo>
                  <a:pt x="0" y="216001"/>
                </a:lnTo>
                <a:lnTo>
                  <a:pt x="5759996" y="216001"/>
                </a:lnTo>
                <a:lnTo>
                  <a:pt x="5759996" y="0"/>
                </a:lnTo>
                <a:close/>
              </a:path>
            </a:pathLst>
          </a:custGeom>
          <a:solidFill>
            <a:srgbClr val="1965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67297" y="3002489"/>
            <a:ext cx="1697355" cy="17399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800" dirty="0">
                <a:solidFill>
                  <a:srgbClr val="FCFAF7"/>
                </a:solidFill>
                <a:latin typeface="Arial"/>
                <a:cs typeface="Arial"/>
              </a:rPr>
              <a:t>M.</a:t>
            </a:r>
            <a:r>
              <a:rPr sz="800" spc="65" dirty="0">
                <a:solidFill>
                  <a:srgbClr val="FCFAF7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</a:rPr>
              <a:t>Kolla</a:t>
            </a:r>
            <a:r>
              <a:rPr sz="800" spc="285" dirty="0">
                <a:solidFill>
                  <a:srgbClr val="FCFAF7"/>
                </a:solidFill>
                <a:latin typeface="Arial"/>
                <a:cs typeface="Arial"/>
              </a:rPr>
              <a:t> 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</a:rPr>
              <a:t>|</a:t>
            </a:r>
            <a:r>
              <a:rPr sz="800" spc="290" dirty="0">
                <a:solidFill>
                  <a:srgbClr val="FCFAF7"/>
                </a:solidFill>
                <a:latin typeface="Arial"/>
                <a:cs typeface="Arial"/>
              </a:rPr>
              <a:t> 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  <a:hlinkClick r:id="rId8" action="ppaction://hlinksldjump"/>
              </a:rPr>
              <a:t>Retail</a:t>
            </a:r>
            <a:r>
              <a:rPr sz="800" spc="70" dirty="0">
                <a:solidFill>
                  <a:srgbClr val="FCFAF7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  <a:hlinkClick r:id="rId8" action="ppaction://hlinksldjump"/>
              </a:rPr>
              <a:t>Electricity</a:t>
            </a:r>
            <a:r>
              <a:rPr sz="800" spc="65" dirty="0">
                <a:solidFill>
                  <a:srgbClr val="FCFAF7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800" spc="-25" dirty="0">
                <a:solidFill>
                  <a:srgbClr val="FCFAF7"/>
                </a:solidFill>
                <a:latin typeface="Arial"/>
                <a:cs typeface="Arial"/>
                <a:hlinkClick r:id="rId8" action="ppaction://hlinksldjump"/>
              </a:rPr>
              <a:t>Sales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/>
              <a:t>2</a:t>
            </a:fld>
            <a:r>
              <a:rPr spc="45" dirty="0"/>
              <a:t> </a:t>
            </a:r>
            <a:r>
              <a:rPr spc="195" dirty="0"/>
              <a:t>/</a:t>
            </a:r>
            <a:r>
              <a:rPr spc="50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0" dirty="0"/>
              <a:t>Data</a:t>
            </a:r>
            <a:r>
              <a:rPr spc="-10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spc="-120" dirty="0"/>
              <a:t>Preparation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533081"/>
            <a:ext cx="5400040" cy="33020"/>
            <a:chOff x="359994" y="533081"/>
            <a:chExt cx="5400040" cy="33020"/>
          </a:xfrm>
        </p:grpSpPr>
        <p:sp>
          <p:nvSpPr>
            <p:cNvPr id="4" name="object 4"/>
            <p:cNvSpPr/>
            <p:nvPr/>
          </p:nvSpPr>
          <p:spPr>
            <a:xfrm>
              <a:off x="359994" y="543880"/>
              <a:ext cx="5400040" cy="22225"/>
            </a:xfrm>
            <a:custGeom>
              <a:avLst/>
              <a:gdLst/>
              <a:ahLst/>
              <a:cxnLst/>
              <a:rect l="l" t="t" r="r" b="b"/>
              <a:pathLst>
                <a:path w="5400040" h="22225">
                  <a:moveTo>
                    <a:pt x="5400001" y="0"/>
                  </a:moveTo>
                  <a:lnTo>
                    <a:pt x="0" y="0"/>
                  </a:lnTo>
                  <a:lnTo>
                    <a:pt x="0" y="21599"/>
                  </a:lnTo>
                  <a:lnTo>
                    <a:pt x="5400001" y="21599"/>
                  </a:lnTo>
                  <a:lnTo>
                    <a:pt x="5400001" y="0"/>
                  </a:lnTo>
                  <a:close/>
                </a:path>
              </a:pathLst>
            </a:custGeom>
            <a:solidFill>
              <a:srgbClr val="1965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9994" y="533081"/>
              <a:ext cx="2592070" cy="10795"/>
            </a:xfrm>
            <a:custGeom>
              <a:avLst/>
              <a:gdLst/>
              <a:ahLst/>
              <a:cxnLst/>
              <a:rect l="l" t="t" r="r" b="b"/>
              <a:pathLst>
                <a:path w="2592070" h="10795">
                  <a:moveTo>
                    <a:pt x="0" y="10799"/>
                  </a:moveTo>
                  <a:lnTo>
                    <a:pt x="0" y="0"/>
                  </a:lnTo>
                  <a:lnTo>
                    <a:pt x="2592015" y="0"/>
                  </a:lnTo>
                  <a:lnTo>
                    <a:pt x="2592015" y="10799"/>
                  </a:lnTo>
                  <a:lnTo>
                    <a:pt x="0" y="10799"/>
                  </a:lnTo>
                  <a:close/>
                </a:path>
              </a:pathLst>
            </a:custGeom>
            <a:solidFill>
              <a:srgbClr val="F3A1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551" y="1123251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551" y="1333284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2551" y="1897354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2551" y="2107387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2551" y="2317419"/>
            <a:ext cx="65265" cy="652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02551" y="2527452"/>
            <a:ext cx="65265" cy="6526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21894" y="786013"/>
            <a:ext cx="3530600" cy="18497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spc="-20" dirty="0">
                <a:solidFill>
                  <a:srgbClr val="1F2833"/>
                </a:solidFill>
                <a:latin typeface="Arial Black"/>
                <a:cs typeface="Arial Black"/>
              </a:rPr>
              <a:t>Data</a:t>
            </a:r>
            <a:endParaRPr sz="1100">
              <a:latin typeface="Arial Black"/>
              <a:cs typeface="Arial Black"/>
            </a:endParaRPr>
          </a:p>
          <a:p>
            <a:pPr marL="314960" marR="30480">
              <a:lnSpc>
                <a:spcPct val="125299"/>
              </a:lnSpc>
            </a:pPr>
            <a:r>
              <a:rPr sz="1100" dirty="0">
                <a:solidFill>
                  <a:srgbClr val="1F2833"/>
                </a:solidFill>
                <a:latin typeface="Tahoma"/>
                <a:cs typeface="Tahoma"/>
              </a:rPr>
              <a:t>Monthly</a:t>
            </a:r>
            <a:r>
              <a:rPr sz="1100" spc="-2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retail</a:t>
            </a:r>
            <a:r>
              <a:rPr sz="1100" spc="-2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electricity</a:t>
            </a:r>
            <a:r>
              <a:rPr sz="1100" spc="-1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1F2833"/>
                </a:solidFill>
                <a:latin typeface="Tahoma"/>
                <a:cs typeface="Tahoma"/>
              </a:rPr>
              <a:t>sales</a:t>
            </a:r>
            <a:r>
              <a:rPr sz="1100" spc="-20" dirty="0">
                <a:solidFill>
                  <a:srgbClr val="1F2833"/>
                </a:solidFill>
                <a:latin typeface="Tahoma"/>
                <a:cs typeface="Tahoma"/>
              </a:rPr>
              <a:t> from</a:t>
            </a:r>
            <a:r>
              <a:rPr sz="1100" spc="-1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F2833"/>
                </a:solidFill>
                <a:latin typeface="Tahoma"/>
                <a:cs typeface="Tahoma"/>
              </a:rPr>
              <a:t>EIA</a:t>
            </a:r>
            <a:r>
              <a:rPr sz="900" baseline="37037" dirty="0">
                <a:solidFill>
                  <a:srgbClr val="1F2833"/>
                </a:solidFill>
                <a:latin typeface="Arial"/>
                <a:cs typeface="Arial"/>
              </a:rPr>
              <a:t>[4]</a:t>
            </a:r>
            <a:r>
              <a:rPr sz="900" spc="300" baseline="37037" dirty="0">
                <a:solidFill>
                  <a:srgbClr val="1F2833"/>
                </a:solidFill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1F2833"/>
                </a:solidFill>
                <a:latin typeface="Tahoma"/>
                <a:cs typeface="Tahoma"/>
              </a:rPr>
              <a:t>(2014–</a:t>
            </a: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2024) </a:t>
            </a:r>
            <a:r>
              <a:rPr sz="1100" dirty="0">
                <a:solidFill>
                  <a:srgbClr val="1F2833"/>
                </a:solidFill>
                <a:latin typeface="Tahoma"/>
                <a:cs typeface="Tahoma"/>
              </a:rPr>
              <a:t>By</a:t>
            </a: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F2833"/>
                </a:solidFill>
                <a:latin typeface="Tahoma"/>
                <a:cs typeface="Tahoma"/>
              </a:rPr>
              <a:t>State</a:t>
            </a:r>
            <a:r>
              <a:rPr sz="1100" spc="-2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1F2833"/>
                </a:solidFill>
                <a:latin typeface="Meiryo UI"/>
                <a:cs typeface="Meiryo UI"/>
              </a:rPr>
              <a:t>×</a:t>
            </a:r>
            <a:r>
              <a:rPr sz="1100" i="1" spc="-50" dirty="0">
                <a:solidFill>
                  <a:srgbClr val="1F2833"/>
                </a:solidFill>
                <a:latin typeface="Meiryo UI"/>
                <a:cs typeface="Meiryo UI"/>
              </a:rPr>
              <a:t> </a:t>
            </a:r>
            <a:r>
              <a:rPr sz="1100" spc="-30" dirty="0">
                <a:solidFill>
                  <a:srgbClr val="1F2833"/>
                </a:solidFill>
                <a:latin typeface="Tahoma"/>
                <a:cs typeface="Tahoma"/>
              </a:rPr>
              <a:t>Sector,</a:t>
            </a: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F2833"/>
                </a:solidFill>
                <a:latin typeface="Tahoma"/>
                <a:cs typeface="Tahoma"/>
              </a:rPr>
              <a:t>mapped</a:t>
            </a:r>
            <a:r>
              <a:rPr sz="1100" spc="-1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F2833"/>
                </a:solidFill>
                <a:latin typeface="Tahoma"/>
                <a:cs typeface="Tahoma"/>
              </a:rPr>
              <a:t>to</a:t>
            </a: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F2833"/>
                </a:solidFill>
                <a:latin typeface="Tahoma"/>
                <a:cs typeface="Tahoma"/>
              </a:rPr>
              <a:t>Census</a:t>
            </a:r>
            <a:r>
              <a:rPr sz="1100" spc="-2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regions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1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</a:pPr>
            <a:r>
              <a:rPr sz="1100" spc="-140" dirty="0">
                <a:solidFill>
                  <a:srgbClr val="1F2833"/>
                </a:solidFill>
                <a:latin typeface="Arial Black"/>
                <a:cs typeface="Arial Black"/>
              </a:rPr>
              <a:t>Key</a:t>
            </a:r>
            <a:r>
              <a:rPr sz="1100" spc="80" dirty="0">
                <a:solidFill>
                  <a:srgbClr val="1F2833"/>
                </a:solidFill>
                <a:latin typeface="Arial Black"/>
                <a:cs typeface="Arial Black"/>
              </a:rPr>
              <a:t> </a:t>
            </a:r>
            <a:r>
              <a:rPr sz="1100" spc="-85" dirty="0">
                <a:solidFill>
                  <a:srgbClr val="1F2833"/>
                </a:solidFill>
                <a:latin typeface="Arial Black"/>
                <a:cs typeface="Arial Black"/>
              </a:rPr>
              <a:t>Pre-</a:t>
            </a:r>
            <a:r>
              <a:rPr sz="1100" spc="-55" dirty="0">
                <a:solidFill>
                  <a:srgbClr val="1F2833"/>
                </a:solidFill>
                <a:latin typeface="Arial Black"/>
                <a:cs typeface="Arial Black"/>
              </a:rPr>
              <a:t>processing</a:t>
            </a:r>
            <a:endParaRPr sz="1100">
              <a:latin typeface="Arial Black"/>
              <a:cs typeface="Arial Black"/>
            </a:endParaRPr>
          </a:p>
          <a:p>
            <a:pPr marL="314960" marR="1057910">
              <a:lnSpc>
                <a:spcPct val="125299"/>
              </a:lnSpc>
            </a:pPr>
            <a:r>
              <a:rPr sz="1100" dirty="0">
                <a:solidFill>
                  <a:srgbClr val="1F2833"/>
                </a:solidFill>
                <a:latin typeface="Tahoma"/>
                <a:cs typeface="Tahoma"/>
              </a:rPr>
              <a:t>Wide</a:t>
            </a:r>
            <a:r>
              <a:rPr sz="1100" spc="-4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1F2833"/>
                </a:solidFill>
                <a:latin typeface="Meiryo UI"/>
                <a:cs typeface="Meiryo UI"/>
              </a:rPr>
              <a:t>→</a:t>
            </a:r>
            <a:r>
              <a:rPr sz="1100" i="1" spc="-75" dirty="0">
                <a:solidFill>
                  <a:srgbClr val="1F2833"/>
                </a:solidFill>
                <a:latin typeface="Meiryo UI"/>
                <a:cs typeface="Meiryo UI"/>
              </a:rPr>
              <a:t> </a:t>
            </a: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long</a:t>
            </a:r>
            <a:r>
              <a:rPr sz="1100" spc="-4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F2833"/>
                </a:solidFill>
                <a:latin typeface="Tahoma"/>
                <a:cs typeface="Tahoma"/>
              </a:rPr>
              <a:t>tidy</a:t>
            </a:r>
            <a:r>
              <a:rPr sz="1100" spc="-5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format</a:t>
            </a:r>
            <a:r>
              <a:rPr sz="1100" spc="-4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F2833"/>
                </a:solidFill>
                <a:latin typeface="Tahoma"/>
                <a:cs typeface="Tahoma"/>
              </a:rPr>
              <a:t>in</a:t>
            </a:r>
            <a:r>
              <a:rPr sz="1100" spc="-4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pandas</a:t>
            </a:r>
            <a:r>
              <a:rPr sz="900" spc="-52" baseline="37037" dirty="0">
                <a:solidFill>
                  <a:srgbClr val="1F2833"/>
                </a:solidFill>
                <a:latin typeface="Arial"/>
                <a:cs typeface="Arial"/>
              </a:rPr>
              <a:t>[2]</a:t>
            </a:r>
            <a:r>
              <a:rPr sz="900" spc="750" baseline="37037" dirty="0">
                <a:solidFill>
                  <a:srgbClr val="1F2833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Outlier</a:t>
            </a: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1F2833"/>
                </a:solidFill>
                <a:latin typeface="Tahoma"/>
                <a:cs typeface="Tahoma"/>
              </a:rPr>
              <a:t>removal</a:t>
            </a:r>
            <a:r>
              <a:rPr sz="1100" spc="-3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using</a:t>
            </a:r>
            <a:r>
              <a:rPr sz="1100" spc="-3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F2833"/>
                </a:solidFill>
                <a:latin typeface="Tahoma"/>
                <a:cs typeface="Tahoma"/>
              </a:rPr>
              <a:t>IQR</a:t>
            </a: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(</a:t>
            </a:r>
            <a:r>
              <a:rPr sz="1100" i="1" spc="-10" dirty="0">
                <a:solidFill>
                  <a:srgbClr val="1F2833"/>
                </a:solidFill>
                <a:latin typeface="Meiryo UI"/>
                <a:cs typeface="Meiryo UI"/>
              </a:rPr>
              <a:t>∼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1000) </a:t>
            </a:r>
            <a:r>
              <a:rPr sz="1100" spc="-20" dirty="0">
                <a:solidFill>
                  <a:srgbClr val="1F2833"/>
                </a:solidFill>
                <a:latin typeface="Palatino Linotype"/>
                <a:cs typeface="Palatino Linotype"/>
              </a:rPr>
              <a:t>log(1</a:t>
            </a:r>
            <a:r>
              <a:rPr sz="1100" spc="-50" dirty="0">
                <a:solidFill>
                  <a:srgbClr val="1F2833"/>
                </a:solidFill>
                <a:latin typeface="Palatino Linotype"/>
                <a:cs typeface="Palatino Linotype"/>
              </a:rPr>
              <a:t> </a:t>
            </a:r>
            <a:r>
              <a:rPr sz="1100" spc="295" dirty="0">
                <a:solidFill>
                  <a:srgbClr val="1F2833"/>
                </a:solidFill>
                <a:latin typeface="Palatino Linotype"/>
                <a:cs typeface="Palatino Linotype"/>
              </a:rPr>
              <a:t>+</a:t>
            </a:r>
            <a:r>
              <a:rPr sz="1100" spc="-70" dirty="0">
                <a:solidFill>
                  <a:srgbClr val="1F2833"/>
                </a:solidFill>
                <a:latin typeface="Palatino Linotype"/>
                <a:cs typeface="Palatino Linotype"/>
              </a:rPr>
              <a:t> </a:t>
            </a:r>
            <a:r>
              <a:rPr sz="1100" dirty="0">
                <a:solidFill>
                  <a:srgbClr val="1F2833"/>
                </a:solidFill>
                <a:latin typeface="Tahoma"/>
                <a:cs typeface="Tahoma"/>
              </a:rPr>
              <a:t>Value</a:t>
            </a:r>
            <a:r>
              <a:rPr sz="1100" dirty="0">
                <a:solidFill>
                  <a:srgbClr val="1F2833"/>
                </a:solidFill>
                <a:latin typeface="Palatino Linotype"/>
                <a:cs typeface="Palatino Linotype"/>
              </a:rPr>
              <a:t>)</a:t>
            </a:r>
            <a:r>
              <a:rPr sz="1100" spc="35" dirty="0">
                <a:solidFill>
                  <a:srgbClr val="1F2833"/>
                </a:solidFill>
                <a:latin typeface="Palatino Linotype"/>
                <a:cs typeface="Palatino Linotype"/>
              </a:rPr>
              <a:t> </a:t>
            </a:r>
            <a:r>
              <a:rPr sz="1100" dirty="0">
                <a:solidFill>
                  <a:srgbClr val="1F2833"/>
                </a:solidFill>
                <a:latin typeface="Tahoma"/>
                <a:cs typeface="Tahoma"/>
              </a:rPr>
              <a:t>to</a:t>
            </a: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F2833"/>
                </a:solidFill>
                <a:latin typeface="Tahoma"/>
                <a:cs typeface="Tahoma"/>
              </a:rPr>
              <a:t>handle</a:t>
            </a: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F2833"/>
                </a:solidFill>
                <a:latin typeface="Tahoma"/>
                <a:cs typeface="Tahoma"/>
              </a:rPr>
              <a:t>heavy</a:t>
            </a:r>
            <a:r>
              <a:rPr sz="1100" spc="-2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tails</a:t>
            </a:r>
            <a:endParaRPr sz="1100">
              <a:latin typeface="Tahoma"/>
              <a:cs typeface="Tahoma"/>
            </a:endParaRPr>
          </a:p>
          <a:p>
            <a:pPr marL="314960">
              <a:lnSpc>
                <a:spcPct val="100000"/>
              </a:lnSpc>
              <a:spcBef>
                <a:spcPts val="330"/>
              </a:spcBef>
            </a:pP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Numeric</a:t>
            </a:r>
            <a:r>
              <a:rPr sz="1100" spc="-6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time</a:t>
            </a:r>
            <a:r>
              <a:rPr sz="1100" spc="-7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index:</a:t>
            </a:r>
            <a:r>
              <a:rPr sz="1100" spc="3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F2833"/>
                </a:solidFill>
                <a:latin typeface="Tahoma"/>
                <a:cs typeface="Tahoma"/>
              </a:rPr>
              <a:t>days</a:t>
            </a:r>
            <a:r>
              <a:rPr sz="1100" spc="-3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since</a:t>
            </a:r>
            <a:r>
              <a:rPr sz="1100" spc="-5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F2833"/>
                </a:solidFill>
                <a:latin typeface="Tahoma"/>
                <a:cs typeface="Tahoma"/>
              </a:rPr>
              <a:t>first</a:t>
            </a:r>
            <a:r>
              <a:rPr sz="1100" spc="-6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observation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023997"/>
            <a:ext cx="5760085" cy="216535"/>
          </a:xfrm>
          <a:custGeom>
            <a:avLst/>
            <a:gdLst/>
            <a:ahLst/>
            <a:cxnLst/>
            <a:rect l="l" t="t" r="r" b="b"/>
            <a:pathLst>
              <a:path w="5760085" h="216535">
                <a:moveTo>
                  <a:pt x="5759996" y="0"/>
                </a:moveTo>
                <a:lnTo>
                  <a:pt x="0" y="0"/>
                </a:lnTo>
                <a:lnTo>
                  <a:pt x="0" y="216001"/>
                </a:lnTo>
                <a:lnTo>
                  <a:pt x="5759996" y="216001"/>
                </a:lnTo>
                <a:lnTo>
                  <a:pt x="5759996" y="0"/>
                </a:lnTo>
                <a:close/>
              </a:path>
            </a:pathLst>
          </a:custGeom>
          <a:solidFill>
            <a:srgbClr val="1965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67297" y="3002489"/>
            <a:ext cx="1697355" cy="17399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800" dirty="0">
                <a:solidFill>
                  <a:srgbClr val="FCFAF7"/>
                </a:solidFill>
                <a:latin typeface="Arial"/>
                <a:cs typeface="Arial"/>
              </a:rPr>
              <a:t>M.</a:t>
            </a:r>
            <a:r>
              <a:rPr sz="800" spc="65" dirty="0">
                <a:solidFill>
                  <a:srgbClr val="FCFAF7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</a:rPr>
              <a:t>Kolla</a:t>
            </a:r>
            <a:r>
              <a:rPr sz="800" spc="285" dirty="0">
                <a:solidFill>
                  <a:srgbClr val="FCFAF7"/>
                </a:solidFill>
                <a:latin typeface="Arial"/>
                <a:cs typeface="Arial"/>
              </a:rPr>
              <a:t> 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</a:rPr>
              <a:t>|</a:t>
            </a:r>
            <a:r>
              <a:rPr sz="800" spc="290" dirty="0">
                <a:solidFill>
                  <a:srgbClr val="FCFAF7"/>
                </a:solidFill>
                <a:latin typeface="Arial"/>
                <a:cs typeface="Arial"/>
              </a:rPr>
              <a:t> 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  <a:hlinkClick r:id="rId8" action="ppaction://hlinksldjump"/>
              </a:rPr>
              <a:t>Retail</a:t>
            </a:r>
            <a:r>
              <a:rPr sz="800" spc="70" dirty="0">
                <a:solidFill>
                  <a:srgbClr val="FCFAF7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  <a:hlinkClick r:id="rId8" action="ppaction://hlinksldjump"/>
              </a:rPr>
              <a:t>Electricity</a:t>
            </a:r>
            <a:r>
              <a:rPr sz="800" spc="65" dirty="0">
                <a:solidFill>
                  <a:srgbClr val="FCFAF7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800" spc="-25" dirty="0">
                <a:solidFill>
                  <a:srgbClr val="FCFAF7"/>
                </a:solidFill>
                <a:latin typeface="Arial"/>
                <a:cs typeface="Arial"/>
                <a:hlinkClick r:id="rId8" action="ppaction://hlinksldjump"/>
              </a:rPr>
              <a:t>Sales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/>
              <a:t>3</a:t>
            </a:fld>
            <a:r>
              <a:rPr spc="45" dirty="0"/>
              <a:t> </a:t>
            </a:r>
            <a:r>
              <a:rPr spc="195" dirty="0"/>
              <a:t>/</a:t>
            </a:r>
            <a:r>
              <a:rPr spc="50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228864"/>
            <a:ext cx="3517442" cy="2891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45" dirty="0"/>
              <a:t>Exploratory</a:t>
            </a:r>
            <a:r>
              <a:rPr spc="60" dirty="0"/>
              <a:t> </a:t>
            </a:r>
            <a:r>
              <a:rPr spc="-90" dirty="0"/>
              <a:t>Data</a:t>
            </a:r>
            <a:r>
              <a:rPr spc="65" dirty="0"/>
              <a:t> </a:t>
            </a:r>
            <a:r>
              <a:rPr spc="-130" dirty="0"/>
              <a:t>Overview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533081"/>
            <a:ext cx="5400040" cy="33020"/>
            <a:chOff x="359994" y="533081"/>
            <a:chExt cx="5400040" cy="33020"/>
          </a:xfrm>
        </p:grpSpPr>
        <p:sp>
          <p:nvSpPr>
            <p:cNvPr id="4" name="object 4"/>
            <p:cNvSpPr/>
            <p:nvPr/>
          </p:nvSpPr>
          <p:spPr>
            <a:xfrm>
              <a:off x="359994" y="543880"/>
              <a:ext cx="5400040" cy="22225"/>
            </a:xfrm>
            <a:custGeom>
              <a:avLst/>
              <a:gdLst/>
              <a:ahLst/>
              <a:cxnLst/>
              <a:rect l="l" t="t" r="r" b="b"/>
              <a:pathLst>
                <a:path w="5400040" h="22225">
                  <a:moveTo>
                    <a:pt x="5400001" y="0"/>
                  </a:moveTo>
                  <a:lnTo>
                    <a:pt x="0" y="0"/>
                  </a:lnTo>
                  <a:lnTo>
                    <a:pt x="0" y="21599"/>
                  </a:lnTo>
                  <a:lnTo>
                    <a:pt x="5400001" y="21599"/>
                  </a:lnTo>
                  <a:lnTo>
                    <a:pt x="5400001" y="0"/>
                  </a:lnTo>
                  <a:close/>
                </a:path>
              </a:pathLst>
            </a:custGeom>
            <a:solidFill>
              <a:srgbClr val="1965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9994" y="533081"/>
              <a:ext cx="2592070" cy="10795"/>
            </a:xfrm>
            <a:custGeom>
              <a:avLst/>
              <a:gdLst/>
              <a:ahLst/>
              <a:cxnLst/>
              <a:rect l="l" t="t" r="r" b="b"/>
              <a:pathLst>
                <a:path w="2592070" h="10795">
                  <a:moveTo>
                    <a:pt x="0" y="10799"/>
                  </a:moveTo>
                  <a:lnTo>
                    <a:pt x="0" y="0"/>
                  </a:lnTo>
                  <a:lnTo>
                    <a:pt x="2592015" y="0"/>
                  </a:lnTo>
                  <a:lnTo>
                    <a:pt x="2592015" y="10799"/>
                  </a:lnTo>
                  <a:lnTo>
                    <a:pt x="0" y="10799"/>
                  </a:lnTo>
                  <a:close/>
                </a:path>
              </a:pathLst>
            </a:custGeom>
            <a:solidFill>
              <a:srgbClr val="F3A1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427761" y="1147584"/>
            <a:ext cx="2284095" cy="0"/>
          </a:xfrm>
          <a:custGeom>
            <a:avLst/>
            <a:gdLst/>
            <a:ahLst/>
            <a:cxnLst/>
            <a:rect l="l" t="t" r="r" b="b"/>
            <a:pathLst>
              <a:path w="2284095">
                <a:moveTo>
                  <a:pt x="0" y="0"/>
                </a:moveTo>
                <a:lnTo>
                  <a:pt x="2283663" y="0"/>
                </a:lnTo>
              </a:path>
            </a:pathLst>
          </a:custGeom>
          <a:ln w="5054">
            <a:solidFill>
              <a:srgbClr val="1F28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47294" y="891953"/>
            <a:ext cx="1236345" cy="405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95" dirty="0">
                <a:solidFill>
                  <a:srgbClr val="1F2833"/>
                </a:solidFill>
                <a:latin typeface="Arial Black"/>
                <a:cs typeface="Arial Black"/>
              </a:rPr>
              <a:t>Dataset</a:t>
            </a:r>
            <a:r>
              <a:rPr sz="900" spc="35" dirty="0">
                <a:solidFill>
                  <a:srgbClr val="1F2833"/>
                </a:solidFill>
                <a:latin typeface="Arial Black"/>
                <a:cs typeface="Arial Black"/>
              </a:rPr>
              <a:t> </a:t>
            </a:r>
            <a:r>
              <a:rPr sz="900" spc="-110" dirty="0">
                <a:solidFill>
                  <a:srgbClr val="1F2833"/>
                </a:solidFill>
                <a:latin typeface="Arial Black"/>
                <a:cs typeface="Arial Black"/>
              </a:rPr>
              <a:t>Characteristics</a:t>
            </a:r>
            <a:endParaRPr sz="900">
              <a:latin typeface="Arial Black"/>
              <a:cs typeface="Arial Black"/>
            </a:endParaRPr>
          </a:p>
          <a:p>
            <a:pPr marL="156210">
              <a:lnSpc>
                <a:spcPct val="100000"/>
              </a:lnSpc>
              <a:spcBef>
                <a:spcPts val="840"/>
              </a:spcBef>
            </a:pPr>
            <a:r>
              <a:rPr sz="900" spc="-10" dirty="0">
                <a:solidFill>
                  <a:srgbClr val="1F2833"/>
                </a:solidFill>
                <a:latin typeface="Arial Black"/>
                <a:cs typeface="Arial Black"/>
              </a:rPr>
              <a:t>Feature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27761" y="1312697"/>
            <a:ext cx="2284095" cy="0"/>
          </a:xfrm>
          <a:custGeom>
            <a:avLst/>
            <a:gdLst/>
            <a:ahLst/>
            <a:cxnLst/>
            <a:rect l="l" t="t" r="r" b="b"/>
            <a:pathLst>
              <a:path w="2284095">
                <a:moveTo>
                  <a:pt x="0" y="0"/>
                </a:moveTo>
                <a:lnTo>
                  <a:pt x="2283663" y="0"/>
                </a:lnTo>
              </a:path>
            </a:pathLst>
          </a:custGeom>
          <a:ln w="5054">
            <a:solidFill>
              <a:srgbClr val="1F28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866752" y="1107113"/>
            <a:ext cx="351155" cy="35623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900" spc="-45" dirty="0">
                <a:solidFill>
                  <a:srgbClr val="1F2833"/>
                </a:solidFill>
                <a:latin typeface="Arial Black"/>
                <a:cs typeface="Arial Black"/>
              </a:rPr>
              <a:t>Value</a:t>
            </a:r>
            <a:endParaRPr sz="9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900" spc="-30" dirty="0">
                <a:solidFill>
                  <a:srgbClr val="1F2833"/>
                </a:solidFill>
                <a:latin typeface="Arial"/>
                <a:cs typeface="Arial"/>
              </a:rPr>
              <a:t>24,815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0969" y="1277280"/>
            <a:ext cx="920115" cy="1146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900" dirty="0">
                <a:solidFill>
                  <a:srgbClr val="1F2833"/>
                </a:solidFill>
                <a:latin typeface="Arial"/>
                <a:cs typeface="Arial"/>
              </a:rPr>
              <a:t>Total</a:t>
            </a:r>
            <a:r>
              <a:rPr sz="900" spc="50" dirty="0">
                <a:solidFill>
                  <a:srgbClr val="1F2833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1F2833"/>
                </a:solidFill>
                <a:latin typeface="Arial"/>
                <a:cs typeface="Arial"/>
              </a:rPr>
              <a:t>observations </a:t>
            </a:r>
            <a:r>
              <a:rPr sz="900" dirty="0">
                <a:solidFill>
                  <a:srgbClr val="1F2833"/>
                </a:solidFill>
                <a:latin typeface="Arial"/>
                <a:cs typeface="Arial"/>
              </a:rPr>
              <a:t>Time</a:t>
            </a:r>
            <a:r>
              <a:rPr sz="900" spc="20" dirty="0">
                <a:solidFill>
                  <a:srgbClr val="1F2833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1F2833"/>
                </a:solidFill>
                <a:latin typeface="Arial"/>
                <a:cs typeface="Arial"/>
              </a:rPr>
              <a:t>range</a:t>
            </a:r>
            <a:endParaRPr sz="900">
              <a:latin typeface="Arial"/>
              <a:cs typeface="Arial"/>
            </a:endParaRPr>
          </a:p>
          <a:p>
            <a:pPr marL="12700" marR="156210">
              <a:lnSpc>
                <a:spcPct val="116700"/>
              </a:lnSpc>
            </a:pPr>
            <a:r>
              <a:rPr sz="900" spc="-20" dirty="0">
                <a:solidFill>
                  <a:srgbClr val="1F2833"/>
                </a:solidFill>
                <a:latin typeface="Arial"/>
                <a:cs typeface="Arial"/>
              </a:rPr>
              <a:t>States</a:t>
            </a:r>
            <a:r>
              <a:rPr sz="900" spc="-5" dirty="0">
                <a:solidFill>
                  <a:srgbClr val="1F2833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1F2833"/>
                </a:solidFill>
                <a:latin typeface="Arial"/>
                <a:cs typeface="Arial"/>
              </a:rPr>
              <a:t>included </a:t>
            </a:r>
            <a:r>
              <a:rPr sz="900" spc="-10" dirty="0">
                <a:solidFill>
                  <a:srgbClr val="1F2833"/>
                </a:solidFill>
                <a:latin typeface="Arial"/>
                <a:cs typeface="Arial"/>
              </a:rPr>
              <a:t>Sectors Regions </a:t>
            </a:r>
            <a:r>
              <a:rPr sz="900" spc="-20" dirty="0">
                <a:solidFill>
                  <a:srgbClr val="1F2833"/>
                </a:solidFill>
                <a:latin typeface="Arial"/>
                <a:cs typeface="Arial"/>
              </a:rPr>
              <a:t>Numeric</a:t>
            </a:r>
            <a:r>
              <a:rPr sz="900" spc="-5" dirty="0">
                <a:solidFill>
                  <a:srgbClr val="1F2833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1F2833"/>
                </a:solidFill>
                <a:latin typeface="Arial"/>
                <a:cs typeface="Arial"/>
              </a:rPr>
              <a:t>vars Median</a:t>
            </a:r>
            <a:r>
              <a:rPr sz="900" dirty="0">
                <a:solidFill>
                  <a:srgbClr val="1F2833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1F2833"/>
                </a:solidFill>
                <a:latin typeface="Arial"/>
                <a:cs typeface="Arial"/>
              </a:rPr>
              <a:t>usage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66581" y="1437351"/>
            <a:ext cx="671830" cy="98615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900" spc="-45" dirty="0">
                <a:solidFill>
                  <a:srgbClr val="1F2833"/>
                </a:solidFill>
                <a:latin typeface="Arial"/>
                <a:cs typeface="Arial"/>
              </a:rPr>
              <a:t>2014–</a:t>
            </a:r>
            <a:r>
              <a:rPr sz="900" spc="-20" dirty="0">
                <a:solidFill>
                  <a:srgbClr val="1F2833"/>
                </a:solidFill>
                <a:latin typeface="Arial"/>
                <a:cs typeface="Arial"/>
              </a:rPr>
              <a:t>2024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900" dirty="0">
                <a:solidFill>
                  <a:srgbClr val="1F2833"/>
                </a:solidFill>
                <a:latin typeface="Arial"/>
                <a:cs typeface="Arial"/>
              </a:rPr>
              <a:t>51</a:t>
            </a:r>
            <a:r>
              <a:rPr sz="900" spc="15" dirty="0">
                <a:solidFill>
                  <a:srgbClr val="1F2833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F2833"/>
                </a:solidFill>
                <a:latin typeface="Arial"/>
                <a:cs typeface="Arial"/>
              </a:rPr>
              <a:t>(incl.</a:t>
            </a:r>
            <a:r>
              <a:rPr sz="900" spc="20" dirty="0">
                <a:solidFill>
                  <a:srgbClr val="1F2833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1F2833"/>
                </a:solidFill>
                <a:latin typeface="Arial"/>
                <a:cs typeface="Arial"/>
              </a:rPr>
              <a:t>DC)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900" spc="-50" dirty="0">
                <a:solidFill>
                  <a:srgbClr val="1F2833"/>
                </a:solidFill>
                <a:latin typeface="Arial"/>
                <a:cs typeface="Arial"/>
              </a:rPr>
              <a:t>4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900" spc="-50" dirty="0">
                <a:solidFill>
                  <a:srgbClr val="1F2833"/>
                </a:solidFill>
                <a:latin typeface="Arial"/>
                <a:cs typeface="Arial"/>
              </a:rPr>
              <a:t>4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900" spc="-50" dirty="0">
                <a:solidFill>
                  <a:srgbClr val="1F2833"/>
                </a:solidFill>
                <a:latin typeface="Arial"/>
                <a:cs typeface="Arial"/>
              </a:rPr>
              <a:t>3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900" spc="-10" dirty="0">
                <a:solidFill>
                  <a:srgbClr val="1F2833"/>
                </a:solidFill>
                <a:latin typeface="Arial"/>
                <a:cs typeface="Arial"/>
              </a:rPr>
              <a:t>920</a:t>
            </a:r>
            <a:r>
              <a:rPr sz="900" spc="-45" dirty="0">
                <a:solidFill>
                  <a:srgbClr val="1F2833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1F2833"/>
                </a:solidFill>
                <a:latin typeface="Arial"/>
                <a:cs typeface="Arial"/>
              </a:rPr>
              <a:t>MWh</a:t>
            </a:r>
            <a:endParaRPr sz="9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27761" y="2438133"/>
            <a:ext cx="2284095" cy="0"/>
          </a:xfrm>
          <a:custGeom>
            <a:avLst/>
            <a:gdLst/>
            <a:ahLst/>
            <a:cxnLst/>
            <a:rect l="l" t="t" r="r" b="b"/>
            <a:pathLst>
              <a:path w="2284095">
                <a:moveTo>
                  <a:pt x="0" y="0"/>
                </a:moveTo>
                <a:lnTo>
                  <a:pt x="2283663" y="0"/>
                </a:lnTo>
              </a:path>
            </a:pathLst>
          </a:custGeom>
          <a:ln w="5054">
            <a:solidFill>
              <a:srgbClr val="1F28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048584" y="1169720"/>
            <a:ext cx="2284095" cy="0"/>
          </a:xfrm>
          <a:custGeom>
            <a:avLst/>
            <a:gdLst/>
            <a:ahLst/>
            <a:cxnLst/>
            <a:rect l="l" t="t" r="r" b="b"/>
            <a:pathLst>
              <a:path w="2284095">
                <a:moveTo>
                  <a:pt x="0" y="0"/>
                </a:moveTo>
                <a:lnTo>
                  <a:pt x="2283663" y="0"/>
                </a:lnTo>
              </a:path>
            </a:pathLst>
          </a:custGeom>
          <a:ln w="5054">
            <a:solidFill>
              <a:srgbClr val="1F28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968117" y="891953"/>
            <a:ext cx="896619" cy="4279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5" dirty="0">
                <a:solidFill>
                  <a:srgbClr val="1F2833"/>
                </a:solidFill>
                <a:latin typeface="Arial Black"/>
                <a:cs typeface="Arial Black"/>
              </a:rPr>
              <a:t>Category</a:t>
            </a:r>
            <a:r>
              <a:rPr sz="900" spc="65" dirty="0">
                <a:solidFill>
                  <a:srgbClr val="1F2833"/>
                </a:solidFill>
                <a:latin typeface="Arial Black"/>
                <a:cs typeface="Arial Black"/>
              </a:rPr>
              <a:t> </a:t>
            </a:r>
            <a:r>
              <a:rPr sz="900" spc="-95" dirty="0">
                <a:solidFill>
                  <a:srgbClr val="1F2833"/>
                </a:solidFill>
                <a:latin typeface="Arial Black"/>
                <a:cs typeface="Arial Black"/>
              </a:rPr>
              <a:t>Counts</a:t>
            </a:r>
            <a:endParaRPr sz="900">
              <a:latin typeface="Arial Black"/>
              <a:cs typeface="Arial Black"/>
            </a:endParaRPr>
          </a:p>
          <a:p>
            <a:pPr marL="156210">
              <a:lnSpc>
                <a:spcPct val="100000"/>
              </a:lnSpc>
              <a:spcBef>
                <a:spcPts val="1015"/>
              </a:spcBef>
            </a:pPr>
            <a:r>
              <a:rPr sz="900" spc="-10" dirty="0">
                <a:solidFill>
                  <a:srgbClr val="1F2833"/>
                </a:solidFill>
                <a:latin typeface="Arial Black"/>
                <a:cs typeface="Arial Black"/>
              </a:rPr>
              <a:t>Category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048584" y="1334833"/>
            <a:ext cx="2284095" cy="0"/>
          </a:xfrm>
          <a:custGeom>
            <a:avLst/>
            <a:gdLst/>
            <a:ahLst/>
            <a:cxnLst/>
            <a:rect l="l" t="t" r="r" b="b"/>
            <a:pathLst>
              <a:path w="2284095">
                <a:moveTo>
                  <a:pt x="0" y="0"/>
                </a:moveTo>
                <a:lnTo>
                  <a:pt x="2283663" y="0"/>
                </a:lnTo>
              </a:path>
            </a:pathLst>
          </a:custGeom>
          <a:ln w="5054">
            <a:solidFill>
              <a:srgbClr val="1F28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523444" y="1129249"/>
            <a:ext cx="342265" cy="35623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900" spc="-80" dirty="0">
                <a:solidFill>
                  <a:srgbClr val="1F2833"/>
                </a:solidFill>
                <a:latin typeface="Arial Black"/>
                <a:cs typeface="Arial Black"/>
              </a:rPr>
              <a:t>Count</a:t>
            </a:r>
            <a:endParaRPr sz="9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900" spc="-10" dirty="0">
                <a:solidFill>
                  <a:srgbClr val="1F2833"/>
                </a:solidFill>
                <a:latin typeface="Arial"/>
                <a:cs typeface="Arial"/>
              </a:rPr>
              <a:t>7,944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048584" y="1980107"/>
            <a:ext cx="2284095" cy="0"/>
          </a:xfrm>
          <a:custGeom>
            <a:avLst/>
            <a:gdLst/>
            <a:ahLst/>
            <a:cxnLst/>
            <a:rect l="l" t="t" r="r" b="b"/>
            <a:pathLst>
              <a:path w="2284095">
                <a:moveTo>
                  <a:pt x="0" y="0"/>
                </a:moveTo>
                <a:lnTo>
                  <a:pt x="2283663" y="0"/>
                </a:lnTo>
              </a:path>
            </a:pathLst>
          </a:custGeom>
          <a:ln w="5054">
            <a:solidFill>
              <a:srgbClr val="1F28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111792" y="1299416"/>
            <a:ext cx="971550" cy="8312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7600"/>
              </a:lnSpc>
              <a:spcBef>
                <a:spcPts val="90"/>
              </a:spcBef>
            </a:pPr>
            <a:r>
              <a:rPr sz="900" spc="-30" dirty="0">
                <a:solidFill>
                  <a:srgbClr val="1F2833"/>
                </a:solidFill>
                <a:latin typeface="Arial"/>
                <a:cs typeface="Arial"/>
              </a:rPr>
              <a:t>Region</a:t>
            </a:r>
            <a:r>
              <a:rPr sz="900" spc="-5" dirty="0">
                <a:solidFill>
                  <a:srgbClr val="1F2833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F2833"/>
                </a:solidFill>
                <a:latin typeface="Arial"/>
                <a:cs typeface="Arial"/>
              </a:rPr>
              <a:t>– </a:t>
            </a:r>
            <a:r>
              <a:rPr sz="900" spc="-10" dirty="0">
                <a:solidFill>
                  <a:srgbClr val="1F2833"/>
                </a:solidFill>
                <a:latin typeface="Arial"/>
                <a:cs typeface="Arial"/>
              </a:rPr>
              <a:t>South </a:t>
            </a:r>
            <a:r>
              <a:rPr sz="900" spc="-30" dirty="0">
                <a:solidFill>
                  <a:srgbClr val="1F2833"/>
                </a:solidFill>
                <a:latin typeface="Arial"/>
                <a:cs typeface="Arial"/>
              </a:rPr>
              <a:t>Region</a:t>
            </a:r>
            <a:r>
              <a:rPr sz="900" spc="-5" dirty="0">
                <a:solidFill>
                  <a:srgbClr val="1F2833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F2833"/>
                </a:solidFill>
                <a:latin typeface="Arial"/>
                <a:cs typeface="Arial"/>
              </a:rPr>
              <a:t>– </a:t>
            </a:r>
            <a:r>
              <a:rPr sz="900" spc="-20" dirty="0">
                <a:solidFill>
                  <a:srgbClr val="1F2833"/>
                </a:solidFill>
                <a:latin typeface="Arial"/>
                <a:cs typeface="Arial"/>
              </a:rPr>
              <a:t>West </a:t>
            </a:r>
            <a:r>
              <a:rPr sz="900" spc="-30" dirty="0">
                <a:solidFill>
                  <a:srgbClr val="1F2833"/>
                </a:solidFill>
                <a:latin typeface="Arial"/>
                <a:cs typeface="Arial"/>
              </a:rPr>
              <a:t>Region</a:t>
            </a:r>
            <a:r>
              <a:rPr sz="900" spc="-5" dirty="0">
                <a:solidFill>
                  <a:srgbClr val="1F2833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F2833"/>
                </a:solidFill>
                <a:latin typeface="Arial"/>
                <a:cs typeface="Arial"/>
              </a:rPr>
              <a:t>– </a:t>
            </a:r>
            <a:r>
              <a:rPr sz="900" spc="-10" dirty="0">
                <a:solidFill>
                  <a:srgbClr val="1F2833"/>
                </a:solidFill>
                <a:latin typeface="Arial"/>
                <a:cs typeface="Arial"/>
              </a:rPr>
              <a:t>Midwest </a:t>
            </a:r>
            <a:r>
              <a:rPr sz="900" spc="-30" dirty="0">
                <a:solidFill>
                  <a:srgbClr val="1F2833"/>
                </a:solidFill>
                <a:latin typeface="Arial"/>
                <a:cs typeface="Arial"/>
              </a:rPr>
              <a:t>Region</a:t>
            </a:r>
            <a:r>
              <a:rPr sz="900" spc="-5" dirty="0">
                <a:solidFill>
                  <a:srgbClr val="1F2833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F2833"/>
                </a:solidFill>
                <a:latin typeface="Arial"/>
                <a:cs typeface="Arial"/>
              </a:rPr>
              <a:t>– </a:t>
            </a:r>
            <a:r>
              <a:rPr sz="900" spc="-25" dirty="0">
                <a:solidFill>
                  <a:srgbClr val="1F2833"/>
                </a:solidFill>
                <a:latin typeface="Arial"/>
                <a:cs typeface="Arial"/>
              </a:rPr>
              <a:t>Northeast </a:t>
            </a:r>
            <a:r>
              <a:rPr sz="900" spc="-10" dirty="0">
                <a:solidFill>
                  <a:srgbClr val="1F2833"/>
                </a:solidFill>
                <a:latin typeface="Arial"/>
                <a:cs typeface="Arial"/>
              </a:rPr>
              <a:t>Sector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23570" y="1459474"/>
            <a:ext cx="383540" cy="67119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900" spc="-10" dirty="0">
                <a:solidFill>
                  <a:srgbClr val="1F2833"/>
                </a:solidFill>
                <a:latin typeface="Arial"/>
                <a:cs typeface="Arial"/>
              </a:rPr>
              <a:t>6,444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900" spc="-10" dirty="0">
                <a:solidFill>
                  <a:srgbClr val="1F2833"/>
                </a:solidFill>
                <a:latin typeface="Arial"/>
                <a:cs typeface="Arial"/>
              </a:rPr>
              <a:t>5,958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900" spc="-10" dirty="0">
                <a:solidFill>
                  <a:srgbClr val="1F2833"/>
                </a:solidFill>
                <a:latin typeface="Arial"/>
                <a:cs typeface="Arial"/>
              </a:rPr>
              <a:t>4,469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900" i="1" spc="-25" dirty="0">
                <a:solidFill>
                  <a:srgbClr val="1F2833"/>
                </a:solidFill>
                <a:latin typeface="Meiryo UI"/>
                <a:cs typeface="Meiryo UI"/>
              </a:rPr>
              <a:t>∼</a:t>
            </a:r>
            <a:r>
              <a:rPr sz="900" spc="-25" dirty="0">
                <a:solidFill>
                  <a:srgbClr val="1F2833"/>
                </a:solidFill>
                <a:latin typeface="Arial"/>
                <a:cs typeface="Arial"/>
              </a:rPr>
              <a:t>6,200</a:t>
            </a:r>
            <a:endParaRPr sz="9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048584" y="2145233"/>
            <a:ext cx="2284095" cy="0"/>
          </a:xfrm>
          <a:custGeom>
            <a:avLst/>
            <a:gdLst/>
            <a:ahLst/>
            <a:cxnLst/>
            <a:rect l="l" t="t" r="r" b="b"/>
            <a:pathLst>
              <a:path w="2284095">
                <a:moveTo>
                  <a:pt x="0" y="0"/>
                </a:moveTo>
                <a:lnTo>
                  <a:pt x="2283663" y="0"/>
                </a:lnTo>
              </a:path>
            </a:pathLst>
          </a:custGeom>
          <a:ln w="5054">
            <a:solidFill>
              <a:srgbClr val="1F28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0" y="3023997"/>
            <a:ext cx="5760085" cy="216535"/>
          </a:xfrm>
          <a:custGeom>
            <a:avLst/>
            <a:gdLst/>
            <a:ahLst/>
            <a:cxnLst/>
            <a:rect l="l" t="t" r="r" b="b"/>
            <a:pathLst>
              <a:path w="5760085" h="216535">
                <a:moveTo>
                  <a:pt x="5759996" y="0"/>
                </a:moveTo>
                <a:lnTo>
                  <a:pt x="0" y="0"/>
                </a:lnTo>
                <a:lnTo>
                  <a:pt x="0" y="216001"/>
                </a:lnTo>
                <a:lnTo>
                  <a:pt x="5759996" y="216001"/>
                </a:lnTo>
                <a:lnTo>
                  <a:pt x="5759996" y="0"/>
                </a:lnTo>
                <a:close/>
              </a:path>
            </a:pathLst>
          </a:custGeom>
          <a:solidFill>
            <a:srgbClr val="1965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67297" y="3002489"/>
            <a:ext cx="1697355" cy="17399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800" dirty="0">
                <a:solidFill>
                  <a:srgbClr val="FCFAF7"/>
                </a:solidFill>
                <a:latin typeface="Arial"/>
                <a:cs typeface="Arial"/>
              </a:rPr>
              <a:t>M.</a:t>
            </a:r>
            <a:r>
              <a:rPr sz="800" spc="65" dirty="0">
                <a:solidFill>
                  <a:srgbClr val="FCFAF7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</a:rPr>
              <a:t>Kolla</a:t>
            </a:r>
            <a:r>
              <a:rPr sz="800" spc="285" dirty="0">
                <a:solidFill>
                  <a:srgbClr val="FCFAF7"/>
                </a:solidFill>
                <a:latin typeface="Arial"/>
                <a:cs typeface="Arial"/>
              </a:rPr>
              <a:t> 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</a:rPr>
              <a:t>|</a:t>
            </a:r>
            <a:r>
              <a:rPr sz="800" spc="290" dirty="0">
                <a:solidFill>
                  <a:srgbClr val="FCFAF7"/>
                </a:solidFill>
                <a:latin typeface="Arial"/>
                <a:cs typeface="Arial"/>
              </a:rPr>
              <a:t> 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  <a:hlinkClick r:id="rId2" action="ppaction://hlinksldjump"/>
              </a:rPr>
              <a:t>Retail</a:t>
            </a:r>
            <a:r>
              <a:rPr sz="800" spc="70" dirty="0">
                <a:solidFill>
                  <a:srgbClr val="FCFAF7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  <a:hlinkClick r:id="rId2" action="ppaction://hlinksldjump"/>
              </a:rPr>
              <a:t>Electricity</a:t>
            </a:r>
            <a:r>
              <a:rPr sz="800" spc="65" dirty="0">
                <a:solidFill>
                  <a:srgbClr val="FCFAF7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800" spc="-25" dirty="0">
                <a:solidFill>
                  <a:srgbClr val="FCFAF7"/>
                </a:solidFill>
                <a:latin typeface="Arial"/>
                <a:cs typeface="Arial"/>
                <a:hlinkClick r:id="rId2" action="ppaction://hlinksldjump"/>
              </a:rPr>
              <a:t>Sales</a:t>
            </a:r>
            <a:endParaRPr sz="800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/>
              <a:t>4</a:t>
            </a:fld>
            <a:r>
              <a:rPr spc="45" dirty="0"/>
              <a:t> </a:t>
            </a:r>
            <a:r>
              <a:rPr spc="195" dirty="0"/>
              <a:t>/</a:t>
            </a:r>
            <a:r>
              <a:rPr spc="50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228864"/>
            <a:ext cx="3221406" cy="2891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30" dirty="0"/>
              <a:t>Overall</a:t>
            </a:r>
            <a:r>
              <a:rPr spc="75" dirty="0"/>
              <a:t> </a:t>
            </a:r>
            <a:r>
              <a:rPr spc="-145" dirty="0"/>
              <a:t>Temporal</a:t>
            </a:r>
            <a:r>
              <a:rPr spc="75" dirty="0"/>
              <a:t> </a:t>
            </a:r>
            <a:r>
              <a:rPr spc="-95" dirty="0"/>
              <a:t>Pattern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533081"/>
            <a:ext cx="5400040" cy="33020"/>
            <a:chOff x="359994" y="533081"/>
            <a:chExt cx="5400040" cy="33020"/>
          </a:xfrm>
        </p:grpSpPr>
        <p:sp>
          <p:nvSpPr>
            <p:cNvPr id="4" name="object 4"/>
            <p:cNvSpPr/>
            <p:nvPr/>
          </p:nvSpPr>
          <p:spPr>
            <a:xfrm>
              <a:off x="359994" y="543880"/>
              <a:ext cx="5400040" cy="22225"/>
            </a:xfrm>
            <a:custGeom>
              <a:avLst/>
              <a:gdLst/>
              <a:ahLst/>
              <a:cxnLst/>
              <a:rect l="l" t="t" r="r" b="b"/>
              <a:pathLst>
                <a:path w="5400040" h="22225">
                  <a:moveTo>
                    <a:pt x="5400001" y="0"/>
                  </a:moveTo>
                  <a:lnTo>
                    <a:pt x="0" y="0"/>
                  </a:lnTo>
                  <a:lnTo>
                    <a:pt x="0" y="21599"/>
                  </a:lnTo>
                  <a:lnTo>
                    <a:pt x="5400001" y="21599"/>
                  </a:lnTo>
                  <a:lnTo>
                    <a:pt x="5400001" y="0"/>
                  </a:lnTo>
                  <a:close/>
                </a:path>
              </a:pathLst>
            </a:custGeom>
            <a:solidFill>
              <a:srgbClr val="1965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9994" y="533081"/>
              <a:ext cx="2592070" cy="10795"/>
            </a:xfrm>
            <a:custGeom>
              <a:avLst/>
              <a:gdLst/>
              <a:ahLst/>
              <a:cxnLst/>
              <a:rect l="l" t="t" r="r" b="b"/>
              <a:pathLst>
                <a:path w="2592070" h="10795">
                  <a:moveTo>
                    <a:pt x="0" y="10799"/>
                  </a:moveTo>
                  <a:lnTo>
                    <a:pt x="0" y="0"/>
                  </a:lnTo>
                  <a:lnTo>
                    <a:pt x="2592015" y="0"/>
                  </a:lnTo>
                  <a:lnTo>
                    <a:pt x="2592015" y="10799"/>
                  </a:lnTo>
                  <a:lnTo>
                    <a:pt x="0" y="10799"/>
                  </a:lnTo>
                  <a:close/>
                </a:path>
              </a:pathLst>
            </a:custGeom>
            <a:solidFill>
              <a:srgbClr val="F3A1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2700" y="633663"/>
            <a:ext cx="3173095" cy="194423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551" y="2697594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2551" y="2869666"/>
            <a:ext cx="65265" cy="652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96900" y="2616320"/>
            <a:ext cx="3173095" cy="35009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Clear</a:t>
            </a:r>
            <a:r>
              <a:rPr sz="1100" spc="-5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1F2833"/>
                </a:solidFill>
                <a:latin typeface="Tahoma"/>
                <a:cs typeface="Tahoma"/>
              </a:rPr>
              <a:t>seasonal</a:t>
            </a: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 cycles</a:t>
            </a:r>
            <a:r>
              <a:rPr sz="1100" spc="-4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F2833"/>
                </a:solidFill>
                <a:latin typeface="Tahoma"/>
                <a:cs typeface="Tahoma"/>
              </a:rPr>
              <a:t>with</a:t>
            </a:r>
            <a:r>
              <a:rPr sz="1100" spc="-4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F2833"/>
                </a:solidFill>
                <a:latin typeface="Tahoma"/>
                <a:cs typeface="Tahoma"/>
              </a:rPr>
              <a:t>stable</a:t>
            </a: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F2833"/>
                </a:solidFill>
                <a:latin typeface="Tahoma"/>
                <a:cs typeface="Tahoma"/>
              </a:rPr>
              <a:t>long-</a:t>
            </a:r>
            <a:r>
              <a:rPr sz="1100" spc="-20" dirty="0">
                <a:solidFill>
                  <a:srgbClr val="1F2833"/>
                </a:solidFill>
                <a:latin typeface="Tahoma"/>
                <a:cs typeface="Tahoma"/>
              </a:rPr>
              <a:t>run</a:t>
            </a:r>
            <a:r>
              <a:rPr sz="1100" spc="-4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level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1F2833"/>
                </a:solidFill>
                <a:latin typeface="Tahoma"/>
                <a:cs typeface="Tahoma"/>
              </a:rPr>
              <a:t>No</a:t>
            </a:r>
            <a:r>
              <a:rPr sz="1100" spc="-4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F2833"/>
                </a:solidFill>
                <a:latin typeface="Tahoma"/>
                <a:cs typeface="Tahoma"/>
              </a:rPr>
              <a:t>obvious</a:t>
            </a: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F2833"/>
                </a:solidFill>
                <a:latin typeface="Tahoma"/>
                <a:cs typeface="Tahoma"/>
              </a:rPr>
              <a:t>strong </a:t>
            </a:r>
            <a:r>
              <a:rPr sz="1100" spc="-70" dirty="0">
                <a:solidFill>
                  <a:srgbClr val="1F2833"/>
                </a:solidFill>
                <a:latin typeface="Tahoma"/>
                <a:cs typeface="Tahoma"/>
              </a:rPr>
              <a:t>upward</a:t>
            </a:r>
            <a:r>
              <a:rPr sz="1100" spc="-1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F2833"/>
                </a:solidFill>
                <a:latin typeface="Tahoma"/>
                <a:cs typeface="Tahoma"/>
              </a:rPr>
              <a:t>or </a:t>
            </a:r>
            <a:r>
              <a:rPr sz="1100" spc="-65" dirty="0">
                <a:solidFill>
                  <a:srgbClr val="1F2833"/>
                </a:solidFill>
                <a:latin typeface="Tahoma"/>
                <a:cs typeface="Tahoma"/>
              </a:rPr>
              <a:t>downward</a:t>
            </a:r>
            <a:r>
              <a:rPr sz="1100" spc="-2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national 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trend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023997"/>
            <a:ext cx="5760085" cy="216535"/>
          </a:xfrm>
          <a:custGeom>
            <a:avLst/>
            <a:gdLst/>
            <a:ahLst/>
            <a:cxnLst/>
            <a:rect l="l" t="t" r="r" b="b"/>
            <a:pathLst>
              <a:path w="5760085" h="216535">
                <a:moveTo>
                  <a:pt x="5759996" y="0"/>
                </a:moveTo>
                <a:lnTo>
                  <a:pt x="0" y="0"/>
                </a:lnTo>
                <a:lnTo>
                  <a:pt x="0" y="216001"/>
                </a:lnTo>
                <a:lnTo>
                  <a:pt x="5759996" y="216001"/>
                </a:lnTo>
                <a:lnTo>
                  <a:pt x="5759996" y="0"/>
                </a:lnTo>
                <a:close/>
              </a:path>
            </a:pathLst>
          </a:custGeom>
          <a:solidFill>
            <a:srgbClr val="1965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67297" y="3002489"/>
            <a:ext cx="1697355" cy="17399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800" dirty="0">
                <a:solidFill>
                  <a:srgbClr val="FCFAF7"/>
                </a:solidFill>
                <a:latin typeface="Arial"/>
                <a:cs typeface="Arial"/>
              </a:rPr>
              <a:t>M.</a:t>
            </a:r>
            <a:r>
              <a:rPr sz="800" spc="65" dirty="0">
                <a:solidFill>
                  <a:srgbClr val="FCFAF7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</a:rPr>
              <a:t>Kolla</a:t>
            </a:r>
            <a:r>
              <a:rPr sz="800" spc="285" dirty="0">
                <a:solidFill>
                  <a:srgbClr val="FCFAF7"/>
                </a:solidFill>
                <a:latin typeface="Arial"/>
                <a:cs typeface="Arial"/>
              </a:rPr>
              <a:t> 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</a:rPr>
              <a:t>|</a:t>
            </a:r>
            <a:r>
              <a:rPr sz="800" spc="290" dirty="0">
                <a:solidFill>
                  <a:srgbClr val="FCFAF7"/>
                </a:solidFill>
                <a:latin typeface="Arial"/>
                <a:cs typeface="Arial"/>
              </a:rPr>
              <a:t> 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  <a:hlinkClick r:id="rId5" action="ppaction://hlinksldjump"/>
              </a:rPr>
              <a:t>Retail</a:t>
            </a:r>
            <a:r>
              <a:rPr sz="800" spc="70" dirty="0">
                <a:solidFill>
                  <a:srgbClr val="FCFAF7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  <a:hlinkClick r:id="rId5" action="ppaction://hlinksldjump"/>
              </a:rPr>
              <a:t>Electricity</a:t>
            </a:r>
            <a:r>
              <a:rPr sz="800" spc="65" dirty="0">
                <a:solidFill>
                  <a:srgbClr val="FCFAF7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800" spc="-25" dirty="0">
                <a:solidFill>
                  <a:srgbClr val="FCFAF7"/>
                </a:solidFill>
                <a:latin typeface="Arial"/>
                <a:cs typeface="Arial"/>
                <a:hlinkClick r:id="rId5" action="ppaction://hlinksldjump"/>
              </a:rPr>
              <a:t>Sales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/>
              <a:t>5</a:t>
            </a:fld>
            <a:r>
              <a:rPr spc="45" dirty="0"/>
              <a:t> </a:t>
            </a:r>
            <a:r>
              <a:rPr spc="195" dirty="0"/>
              <a:t>/</a:t>
            </a:r>
            <a:r>
              <a:rPr spc="50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45" dirty="0"/>
              <a:t>Regional</a:t>
            </a:r>
            <a:r>
              <a:rPr spc="65" dirty="0"/>
              <a:t> </a:t>
            </a:r>
            <a:r>
              <a:rPr spc="-130" dirty="0"/>
              <a:t>Differences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533081"/>
            <a:ext cx="5400040" cy="33020"/>
            <a:chOff x="359994" y="533081"/>
            <a:chExt cx="5400040" cy="33020"/>
          </a:xfrm>
        </p:grpSpPr>
        <p:sp>
          <p:nvSpPr>
            <p:cNvPr id="4" name="object 4"/>
            <p:cNvSpPr/>
            <p:nvPr/>
          </p:nvSpPr>
          <p:spPr>
            <a:xfrm>
              <a:off x="359994" y="543880"/>
              <a:ext cx="5400040" cy="22225"/>
            </a:xfrm>
            <a:custGeom>
              <a:avLst/>
              <a:gdLst/>
              <a:ahLst/>
              <a:cxnLst/>
              <a:rect l="l" t="t" r="r" b="b"/>
              <a:pathLst>
                <a:path w="5400040" h="22225">
                  <a:moveTo>
                    <a:pt x="5400001" y="0"/>
                  </a:moveTo>
                  <a:lnTo>
                    <a:pt x="0" y="0"/>
                  </a:lnTo>
                  <a:lnTo>
                    <a:pt x="0" y="21599"/>
                  </a:lnTo>
                  <a:lnTo>
                    <a:pt x="5400001" y="21599"/>
                  </a:lnTo>
                  <a:lnTo>
                    <a:pt x="5400001" y="0"/>
                  </a:lnTo>
                  <a:close/>
                </a:path>
              </a:pathLst>
            </a:custGeom>
            <a:solidFill>
              <a:srgbClr val="1965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9994" y="533081"/>
              <a:ext cx="2592070" cy="10795"/>
            </a:xfrm>
            <a:custGeom>
              <a:avLst/>
              <a:gdLst/>
              <a:ahLst/>
              <a:cxnLst/>
              <a:rect l="l" t="t" r="r" b="b"/>
              <a:pathLst>
                <a:path w="2592070" h="10795">
                  <a:moveTo>
                    <a:pt x="0" y="10799"/>
                  </a:moveTo>
                  <a:lnTo>
                    <a:pt x="0" y="0"/>
                  </a:lnTo>
                  <a:lnTo>
                    <a:pt x="2592015" y="0"/>
                  </a:lnTo>
                  <a:lnTo>
                    <a:pt x="2592015" y="10799"/>
                  </a:lnTo>
                  <a:lnTo>
                    <a:pt x="0" y="10799"/>
                  </a:lnTo>
                  <a:close/>
                </a:path>
              </a:pathLst>
            </a:custGeom>
            <a:solidFill>
              <a:srgbClr val="F3A1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012" y="663345"/>
            <a:ext cx="4536085" cy="175011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551" y="2646667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2551" y="2818739"/>
            <a:ext cx="65265" cy="652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24395" y="2563226"/>
            <a:ext cx="294322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20" dirty="0">
                <a:solidFill>
                  <a:srgbClr val="1F2833"/>
                </a:solidFill>
                <a:latin typeface="Tahoma"/>
                <a:cs typeface="Tahoma"/>
              </a:rPr>
              <a:t>South</a:t>
            </a:r>
            <a:r>
              <a:rPr sz="1100" spc="-4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F2833"/>
                </a:solidFill>
                <a:latin typeface="Tahoma"/>
                <a:cs typeface="Tahoma"/>
              </a:rPr>
              <a:t>has</a:t>
            </a: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the</a:t>
            </a: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F2833"/>
                </a:solidFill>
                <a:latin typeface="Tahoma"/>
                <a:cs typeface="Tahoma"/>
              </a:rPr>
              <a:t>highest</a:t>
            </a: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F2833"/>
                </a:solidFill>
                <a:latin typeface="Tahoma"/>
                <a:cs typeface="Tahoma"/>
              </a:rPr>
              <a:t>consumption 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distribution </a:t>
            </a:r>
            <a:r>
              <a:rPr sz="1100" spc="-20" dirty="0">
                <a:solidFill>
                  <a:srgbClr val="1F2833"/>
                </a:solidFill>
                <a:latin typeface="Tahoma"/>
                <a:cs typeface="Tahoma"/>
              </a:rPr>
              <a:t>West </a:t>
            </a:r>
            <a:r>
              <a:rPr sz="1100" spc="-40" dirty="0">
                <a:solidFill>
                  <a:srgbClr val="1F2833"/>
                </a:solidFill>
                <a:latin typeface="Tahoma"/>
                <a:cs typeface="Tahoma"/>
              </a:rPr>
              <a:t>and</a:t>
            </a:r>
            <a:r>
              <a:rPr sz="1100" spc="-2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F2833"/>
                </a:solidFill>
                <a:latin typeface="Tahoma"/>
                <a:cs typeface="Tahoma"/>
              </a:rPr>
              <a:t>Northeast</a:t>
            </a: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F2833"/>
                </a:solidFill>
                <a:latin typeface="Tahoma"/>
                <a:cs typeface="Tahoma"/>
              </a:rPr>
              <a:t>sit</a:t>
            </a:r>
            <a:r>
              <a:rPr sz="1100" spc="-1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F2833"/>
                </a:solidFill>
                <a:latin typeface="Tahoma"/>
                <a:cs typeface="Tahoma"/>
              </a:rPr>
              <a:t>well</a:t>
            </a: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F2833"/>
                </a:solidFill>
                <a:latin typeface="Tahoma"/>
                <a:cs typeface="Tahoma"/>
              </a:rPr>
              <a:t>below</a:t>
            </a:r>
            <a:r>
              <a:rPr sz="1100" spc="-2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Midwest/South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023997"/>
            <a:ext cx="5760085" cy="216535"/>
          </a:xfrm>
          <a:custGeom>
            <a:avLst/>
            <a:gdLst/>
            <a:ahLst/>
            <a:cxnLst/>
            <a:rect l="l" t="t" r="r" b="b"/>
            <a:pathLst>
              <a:path w="5760085" h="216535">
                <a:moveTo>
                  <a:pt x="5759996" y="0"/>
                </a:moveTo>
                <a:lnTo>
                  <a:pt x="0" y="0"/>
                </a:lnTo>
                <a:lnTo>
                  <a:pt x="0" y="216001"/>
                </a:lnTo>
                <a:lnTo>
                  <a:pt x="5759996" y="216001"/>
                </a:lnTo>
                <a:lnTo>
                  <a:pt x="5759996" y="0"/>
                </a:lnTo>
                <a:close/>
              </a:path>
            </a:pathLst>
          </a:custGeom>
          <a:solidFill>
            <a:srgbClr val="1965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67297" y="3002489"/>
            <a:ext cx="1697355" cy="17399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800" dirty="0">
                <a:solidFill>
                  <a:srgbClr val="FCFAF7"/>
                </a:solidFill>
                <a:latin typeface="Arial"/>
                <a:cs typeface="Arial"/>
              </a:rPr>
              <a:t>M.</a:t>
            </a:r>
            <a:r>
              <a:rPr sz="800" spc="65" dirty="0">
                <a:solidFill>
                  <a:srgbClr val="FCFAF7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</a:rPr>
              <a:t>Kolla</a:t>
            </a:r>
            <a:r>
              <a:rPr sz="800" spc="285" dirty="0">
                <a:solidFill>
                  <a:srgbClr val="FCFAF7"/>
                </a:solidFill>
                <a:latin typeface="Arial"/>
                <a:cs typeface="Arial"/>
              </a:rPr>
              <a:t> 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</a:rPr>
              <a:t>|</a:t>
            </a:r>
            <a:r>
              <a:rPr sz="800" spc="290" dirty="0">
                <a:solidFill>
                  <a:srgbClr val="FCFAF7"/>
                </a:solidFill>
                <a:latin typeface="Arial"/>
                <a:cs typeface="Arial"/>
              </a:rPr>
              <a:t> 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  <a:hlinkClick r:id="rId5" action="ppaction://hlinksldjump"/>
              </a:rPr>
              <a:t>Retail</a:t>
            </a:r>
            <a:r>
              <a:rPr sz="800" spc="70" dirty="0">
                <a:solidFill>
                  <a:srgbClr val="FCFAF7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  <a:hlinkClick r:id="rId5" action="ppaction://hlinksldjump"/>
              </a:rPr>
              <a:t>Electricity</a:t>
            </a:r>
            <a:r>
              <a:rPr sz="800" spc="65" dirty="0">
                <a:solidFill>
                  <a:srgbClr val="FCFAF7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800" spc="-25" dirty="0">
                <a:solidFill>
                  <a:srgbClr val="FCFAF7"/>
                </a:solidFill>
                <a:latin typeface="Arial"/>
                <a:cs typeface="Arial"/>
                <a:hlinkClick r:id="rId5" action="ppaction://hlinksldjump"/>
              </a:rPr>
              <a:t>Sales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80507" y="3002489"/>
            <a:ext cx="312420" cy="17399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800" dirty="0">
                <a:solidFill>
                  <a:srgbClr val="FCFAF7"/>
                </a:solidFill>
                <a:latin typeface="Arial"/>
                <a:cs typeface="Arial"/>
              </a:rPr>
              <a:t>6</a:t>
            </a:r>
            <a:r>
              <a:rPr sz="800" spc="45" dirty="0">
                <a:solidFill>
                  <a:srgbClr val="FCFAF7"/>
                </a:solidFill>
                <a:latin typeface="Arial"/>
                <a:cs typeface="Arial"/>
              </a:rPr>
              <a:t> </a:t>
            </a:r>
            <a:r>
              <a:rPr sz="800" spc="195" dirty="0">
                <a:solidFill>
                  <a:srgbClr val="FCFAF7"/>
                </a:solidFill>
                <a:latin typeface="Arial"/>
                <a:cs typeface="Arial"/>
              </a:rPr>
              <a:t>/</a:t>
            </a:r>
            <a:r>
              <a:rPr sz="800" spc="50" dirty="0">
                <a:solidFill>
                  <a:srgbClr val="FCFAF7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FCFAF7"/>
                </a:solidFill>
                <a:latin typeface="Arial"/>
                <a:cs typeface="Arial"/>
              </a:rPr>
              <a:t>14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5" dirty="0"/>
              <a:t>Sector</a:t>
            </a:r>
            <a:r>
              <a:rPr spc="65" dirty="0"/>
              <a:t> </a:t>
            </a:r>
            <a:r>
              <a:rPr spc="-135" dirty="0"/>
              <a:t>Differences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533081"/>
            <a:ext cx="5400040" cy="33020"/>
            <a:chOff x="359994" y="533081"/>
            <a:chExt cx="5400040" cy="33020"/>
          </a:xfrm>
        </p:grpSpPr>
        <p:sp>
          <p:nvSpPr>
            <p:cNvPr id="4" name="object 4"/>
            <p:cNvSpPr/>
            <p:nvPr/>
          </p:nvSpPr>
          <p:spPr>
            <a:xfrm>
              <a:off x="359994" y="543880"/>
              <a:ext cx="5400040" cy="22225"/>
            </a:xfrm>
            <a:custGeom>
              <a:avLst/>
              <a:gdLst/>
              <a:ahLst/>
              <a:cxnLst/>
              <a:rect l="l" t="t" r="r" b="b"/>
              <a:pathLst>
                <a:path w="5400040" h="22225">
                  <a:moveTo>
                    <a:pt x="5400001" y="0"/>
                  </a:moveTo>
                  <a:lnTo>
                    <a:pt x="0" y="0"/>
                  </a:lnTo>
                  <a:lnTo>
                    <a:pt x="0" y="21599"/>
                  </a:lnTo>
                  <a:lnTo>
                    <a:pt x="5400001" y="21599"/>
                  </a:lnTo>
                  <a:lnTo>
                    <a:pt x="5400001" y="0"/>
                  </a:lnTo>
                  <a:close/>
                </a:path>
              </a:pathLst>
            </a:custGeom>
            <a:solidFill>
              <a:srgbClr val="1965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9994" y="533081"/>
              <a:ext cx="2592070" cy="10795"/>
            </a:xfrm>
            <a:custGeom>
              <a:avLst/>
              <a:gdLst/>
              <a:ahLst/>
              <a:cxnLst/>
              <a:rect l="l" t="t" r="r" b="b"/>
              <a:pathLst>
                <a:path w="2592070" h="10795">
                  <a:moveTo>
                    <a:pt x="0" y="10799"/>
                  </a:moveTo>
                  <a:lnTo>
                    <a:pt x="0" y="0"/>
                  </a:lnTo>
                  <a:lnTo>
                    <a:pt x="2592015" y="0"/>
                  </a:lnTo>
                  <a:lnTo>
                    <a:pt x="2592015" y="10799"/>
                  </a:lnTo>
                  <a:lnTo>
                    <a:pt x="0" y="10799"/>
                  </a:lnTo>
                  <a:close/>
                </a:path>
              </a:pathLst>
            </a:custGeom>
            <a:solidFill>
              <a:srgbClr val="F3A1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012" y="663345"/>
            <a:ext cx="4536085" cy="175011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551" y="2646667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2551" y="2818739"/>
            <a:ext cx="65265" cy="652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24395" y="2563226"/>
            <a:ext cx="289814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Residential</a:t>
            </a:r>
            <a:r>
              <a:rPr sz="1100" spc="-3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F2833"/>
                </a:solidFill>
                <a:latin typeface="Tahoma"/>
                <a:cs typeface="Tahoma"/>
              </a:rPr>
              <a:t>and</a:t>
            </a: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Commercial</a:t>
            </a:r>
            <a:r>
              <a:rPr sz="1100" spc="-3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dominate</a:t>
            </a:r>
            <a:r>
              <a:rPr sz="1100" spc="-2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F2833"/>
                </a:solidFill>
                <a:latin typeface="Tahoma"/>
                <a:cs typeface="Tahoma"/>
              </a:rPr>
              <a:t>total</a:t>
            </a: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usage Transportation</a:t>
            </a:r>
            <a:r>
              <a:rPr sz="1100" spc="-3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F2833"/>
                </a:solidFill>
                <a:latin typeface="Tahoma"/>
                <a:cs typeface="Tahoma"/>
              </a:rPr>
              <a:t>consumption</a:t>
            </a: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F2833"/>
                </a:solidFill>
                <a:latin typeface="Tahoma"/>
                <a:cs typeface="Tahoma"/>
              </a:rPr>
              <a:t>is</a:t>
            </a: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F2833"/>
                </a:solidFill>
                <a:latin typeface="Tahoma"/>
                <a:cs typeface="Tahoma"/>
              </a:rPr>
              <a:t>extremely</a:t>
            </a:r>
            <a:r>
              <a:rPr sz="1100" spc="-2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small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023997"/>
            <a:ext cx="5760085" cy="216535"/>
          </a:xfrm>
          <a:custGeom>
            <a:avLst/>
            <a:gdLst/>
            <a:ahLst/>
            <a:cxnLst/>
            <a:rect l="l" t="t" r="r" b="b"/>
            <a:pathLst>
              <a:path w="5760085" h="216535">
                <a:moveTo>
                  <a:pt x="5759996" y="0"/>
                </a:moveTo>
                <a:lnTo>
                  <a:pt x="0" y="0"/>
                </a:lnTo>
                <a:lnTo>
                  <a:pt x="0" y="216001"/>
                </a:lnTo>
                <a:lnTo>
                  <a:pt x="5759996" y="216001"/>
                </a:lnTo>
                <a:lnTo>
                  <a:pt x="5759996" y="0"/>
                </a:lnTo>
                <a:close/>
              </a:path>
            </a:pathLst>
          </a:custGeom>
          <a:solidFill>
            <a:srgbClr val="1965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67297" y="3002489"/>
            <a:ext cx="1697355" cy="17399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800" dirty="0">
                <a:solidFill>
                  <a:srgbClr val="FCFAF7"/>
                </a:solidFill>
                <a:latin typeface="Arial"/>
                <a:cs typeface="Arial"/>
              </a:rPr>
              <a:t>M.</a:t>
            </a:r>
            <a:r>
              <a:rPr sz="800" spc="65" dirty="0">
                <a:solidFill>
                  <a:srgbClr val="FCFAF7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</a:rPr>
              <a:t>Kolla</a:t>
            </a:r>
            <a:r>
              <a:rPr sz="800" spc="285" dirty="0">
                <a:solidFill>
                  <a:srgbClr val="FCFAF7"/>
                </a:solidFill>
                <a:latin typeface="Arial"/>
                <a:cs typeface="Arial"/>
              </a:rPr>
              <a:t> 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</a:rPr>
              <a:t>|</a:t>
            </a:r>
            <a:r>
              <a:rPr sz="800" spc="290" dirty="0">
                <a:solidFill>
                  <a:srgbClr val="FCFAF7"/>
                </a:solidFill>
                <a:latin typeface="Arial"/>
                <a:cs typeface="Arial"/>
              </a:rPr>
              <a:t> 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  <a:hlinkClick r:id="rId5" action="ppaction://hlinksldjump"/>
              </a:rPr>
              <a:t>Retail</a:t>
            </a:r>
            <a:r>
              <a:rPr sz="800" spc="70" dirty="0">
                <a:solidFill>
                  <a:srgbClr val="FCFAF7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  <a:hlinkClick r:id="rId5" action="ppaction://hlinksldjump"/>
              </a:rPr>
              <a:t>Electricity</a:t>
            </a:r>
            <a:r>
              <a:rPr sz="800" spc="65" dirty="0">
                <a:solidFill>
                  <a:srgbClr val="FCFAF7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800" spc="-25" dirty="0">
                <a:solidFill>
                  <a:srgbClr val="FCFAF7"/>
                </a:solidFill>
                <a:latin typeface="Arial"/>
                <a:cs typeface="Arial"/>
                <a:hlinkClick r:id="rId5" action="ppaction://hlinksldjump"/>
              </a:rPr>
              <a:t>Sales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/>
              <a:t>7</a:t>
            </a:fld>
            <a:r>
              <a:rPr spc="45" dirty="0"/>
              <a:t> </a:t>
            </a:r>
            <a:r>
              <a:rPr spc="195" dirty="0"/>
              <a:t>/</a:t>
            </a:r>
            <a:r>
              <a:rPr spc="50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228864"/>
            <a:ext cx="3907206" cy="2891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45" dirty="0"/>
              <a:t>Regional</a:t>
            </a:r>
            <a:r>
              <a:rPr spc="35" dirty="0"/>
              <a:t> </a:t>
            </a:r>
            <a:r>
              <a:rPr spc="-110" dirty="0"/>
              <a:t>Time</a:t>
            </a:r>
            <a:r>
              <a:rPr spc="10" dirty="0"/>
              <a:t> </a:t>
            </a:r>
            <a:r>
              <a:rPr spc="-120" dirty="0"/>
              <a:t>Series:</a:t>
            </a:r>
            <a:r>
              <a:rPr spc="75" dirty="0"/>
              <a:t> </a:t>
            </a:r>
            <a:r>
              <a:rPr spc="-120" dirty="0"/>
              <a:t>South</a:t>
            </a:r>
            <a:r>
              <a:rPr spc="20" dirty="0"/>
              <a:t> </a:t>
            </a:r>
            <a:r>
              <a:rPr spc="-195" dirty="0"/>
              <a:t>vs</a:t>
            </a:r>
            <a:r>
              <a:rPr spc="35" dirty="0"/>
              <a:t> </a:t>
            </a:r>
            <a:r>
              <a:rPr spc="-70" dirty="0"/>
              <a:t>West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533081"/>
            <a:ext cx="5400040" cy="33020"/>
            <a:chOff x="359994" y="533081"/>
            <a:chExt cx="5400040" cy="33020"/>
          </a:xfrm>
        </p:grpSpPr>
        <p:sp>
          <p:nvSpPr>
            <p:cNvPr id="4" name="object 4"/>
            <p:cNvSpPr/>
            <p:nvPr/>
          </p:nvSpPr>
          <p:spPr>
            <a:xfrm>
              <a:off x="359994" y="543880"/>
              <a:ext cx="5400040" cy="22225"/>
            </a:xfrm>
            <a:custGeom>
              <a:avLst/>
              <a:gdLst/>
              <a:ahLst/>
              <a:cxnLst/>
              <a:rect l="l" t="t" r="r" b="b"/>
              <a:pathLst>
                <a:path w="5400040" h="22225">
                  <a:moveTo>
                    <a:pt x="5400001" y="0"/>
                  </a:moveTo>
                  <a:lnTo>
                    <a:pt x="0" y="0"/>
                  </a:lnTo>
                  <a:lnTo>
                    <a:pt x="0" y="21599"/>
                  </a:lnTo>
                  <a:lnTo>
                    <a:pt x="5400001" y="21599"/>
                  </a:lnTo>
                  <a:lnTo>
                    <a:pt x="5400001" y="0"/>
                  </a:lnTo>
                  <a:close/>
                </a:path>
              </a:pathLst>
            </a:custGeom>
            <a:solidFill>
              <a:srgbClr val="1965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9994" y="533081"/>
              <a:ext cx="2592070" cy="10795"/>
            </a:xfrm>
            <a:custGeom>
              <a:avLst/>
              <a:gdLst/>
              <a:ahLst/>
              <a:cxnLst/>
              <a:rect l="l" t="t" r="r" b="b"/>
              <a:pathLst>
                <a:path w="2592070" h="10795">
                  <a:moveTo>
                    <a:pt x="0" y="10799"/>
                  </a:moveTo>
                  <a:lnTo>
                    <a:pt x="0" y="0"/>
                  </a:lnTo>
                  <a:lnTo>
                    <a:pt x="2592015" y="0"/>
                  </a:lnTo>
                  <a:lnTo>
                    <a:pt x="2592015" y="10799"/>
                  </a:lnTo>
                  <a:lnTo>
                    <a:pt x="0" y="10799"/>
                  </a:lnTo>
                  <a:close/>
                </a:path>
              </a:pathLst>
            </a:custGeom>
            <a:solidFill>
              <a:srgbClr val="F3A1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994" y="666083"/>
            <a:ext cx="2419109" cy="144412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80817" y="666083"/>
            <a:ext cx="2419109" cy="144412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868267" y="2155718"/>
            <a:ext cx="6445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1F2833"/>
                </a:solidFill>
                <a:latin typeface="Arial"/>
                <a:cs typeface="Arial"/>
              </a:rPr>
              <a:t>West</a:t>
            </a:r>
            <a:r>
              <a:rPr sz="900" spc="-30" dirty="0">
                <a:solidFill>
                  <a:srgbClr val="1F2833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1F2833"/>
                </a:solidFill>
                <a:latin typeface="Arial"/>
                <a:cs typeface="Arial"/>
              </a:rPr>
              <a:t>Region</a:t>
            </a:r>
            <a:endParaRPr sz="9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2551" y="2496464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2551" y="2670162"/>
            <a:ext cx="65265" cy="6526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21894" y="2155718"/>
            <a:ext cx="3410585" cy="6031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1821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1F2833"/>
                </a:solidFill>
                <a:latin typeface="Arial"/>
                <a:cs typeface="Arial"/>
              </a:rPr>
              <a:t>South Region</a:t>
            </a:r>
            <a:endParaRPr sz="900" dirty="0">
              <a:latin typeface="Arial"/>
              <a:cs typeface="Arial"/>
            </a:endParaRPr>
          </a:p>
          <a:p>
            <a:pPr marL="314960" marR="30480">
              <a:lnSpc>
                <a:spcPct val="103600"/>
              </a:lnSpc>
              <a:spcBef>
                <a:spcPts val="895"/>
              </a:spcBef>
            </a:pPr>
            <a:r>
              <a:rPr sz="1100" spc="-20" dirty="0">
                <a:solidFill>
                  <a:srgbClr val="1F2833"/>
                </a:solidFill>
                <a:latin typeface="Tahoma"/>
                <a:cs typeface="Tahoma"/>
              </a:rPr>
              <a:t>South:</a:t>
            </a:r>
            <a:r>
              <a:rPr sz="1100" spc="5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F2833"/>
                </a:solidFill>
                <a:latin typeface="Tahoma"/>
                <a:cs typeface="Tahoma"/>
              </a:rPr>
              <a:t>consistently</a:t>
            </a:r>
            <a:r>
              <a:rPr sz="1100" spc="-4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F2833"/>
                </a:solidFill>
                <a:latin typeface="Tahoma"/>
                <a:cs typeface="Tahoma"/>
              </a:rPr>
              <a:t>high,</a:t>
            </a:r>
            <a:r>
              <a:rPr sz="1100" spc="-4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especially</a:t>
            </a:r>
            <a:r>
              <a:rPr sz="1100" spc="-5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Residential. </a:t>
            </a:r>
            <a:r>
              <a:rPr sz="1100" spc="-20" dirty="0">
                <a:solidFill>
                  <a:srgbClr val="1F2833"/>
                </a:solidFill>
                <a:latin typeface="Tahoma"/>
                <a:cs typeface="Tahoma"/>
              </a:rPr>
              <a:t>West:</a:t>
            </a:r>
            <a:r>
              <a:rPr sz="1100" spc="6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F2833"/>
                </a:solidFill>
                <a:latin typeface="Tahoma"/>
                <a:cs typeface="Tahoma"/>
              </a:rPr>
              <a:t>lower</a:t>
            </a:r>
            <a:r>
              <a:rPr sz="1100" spc="-3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overall,</a:t>
            </a: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F2833"/>
                </a:solidFill>
                <a:latin typeface="Tahoma"/>
                <a:cs typeface="Tahoma"/>
              </a:rPr>
              <a:t>but</a:t>
            </a:r>
            <a:r>
              <a:rPr sz="1100" spc="-3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1F2833"/>
                </a:solidFill>
                <a:latin typeface="Tahoma"/>
                <a:cs typeface="Tahoma"/>
              </a:rPr>
              <a:t>seasonal</a:t>
            </a:r>
            <a:r>
              <a:rPr sz="1100" spc="-2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pattern</a:t>
            </a:r>
            <a:r>
              <a:rPr sz="1100" spc="-3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F2833"/>
                </a:solidFill>
                <a:latin typeface="Tahoma"/>
                <a:cs typeface="Tahoma"/>
              </a:rPr>
              <a:t>still</a:t>
            </a: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visible.</a:t>
            </a:r>
            <a:endParaRPr lang="en-US" sz="1100" spc="-10" dirty="0">
              <a:solidFill>
                <a:srgbClr val="1F2833"/>
              </a:solidFill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023997"/>
            <a:ext cx="5760085" cy="216535"/>
          </a:xfrm>
          <a:custGeom>
            <a:avLst/>
            <a:gdLst/>
            <a:ahLst/>
            <a:cxnLst/>
            <a:rect l="l" t="t" r="r" b="b"/>
            <a:pathLst>
              <a:path w="5760085" h="216535">
                <a:moveTo>
                  <a:pt x="5759996" y="0"/>
                </a:moveTo>
                <a:lnTo>
                  <a:pt x="0" y="0"/>
                </a:lnTo>
                <a:lnTo>
                  <a:pt x="0" y="216001"/>
                </a:lnTo>
                <a:lnTo>
                  <a:pt x="5759996" y="216001"/>
                </a:lnTo>
                <a:lnTo>
                  <a:pt x="5759996" y="0"/>
                </a:lnTo>
                <a:close/>
              </a:path>
            </a:pathLst>
          </a:custGeom>
          <a:solidFill>
            <a:srgbClr val="1965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67297" y="3002489"/>
            <a:ext cx="1697355" cy="17399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800" dirty="0">
                <a:solidFill>
                  <a:srgbClr val="FCFAF7"/>
                </a:solidFill>
                <a:latin typeface="Arial"/>
                <a:cs typeface="Arial"/>
              </a:rPr>
              <a:t>M.</a:t>
            </a:r>
            <a:r>
              <a:rPr sz="800" spc="65" dirty="0">
                <a:solidFill>
                  <a:srgbClr val="FCFAF7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</a:rPr>
              <a:t>Kolla</a:t>
            </a:r>
            <a:r>
              <a:rPr sz="800" spc="285" dirty="0">
                <a:solidFill>
                  <a:srgbClr val="FCFAF7"/>
                </a:solidFill>
                <a:latin typeface="Arial"/>
                <a:cs typeface="Arial"/>
              </a:rPr>
              <a:t> 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</a:rPr>
              <a:t>|</a:t>
            </a:r>
            <a:r>
              <a:rPr sz="800" spc="290" dirty="0">
                <a:solidFill>
                  <a:srgbClr val="FCFAF7"/>
                </a:solidFill>
                <a:latin typeface="Arial"/>
                <a:cs typeface="Arial"/>
              </a:rPr>
              <a:t> 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  <a:hlinkClick r:id="rId6" action="ppaction://hlinksldjump"/>
              </a:rPr>
              <a:t>Retail</a:t>
            </a:r>
            <a:r>
              <a:rPr sz="800" spc="70" dirty="0">
                <a:solidFill>
                  <a:srgbClr val="FCFAF7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  <a:hlinkClick r:id="rId6" action="ppaction://hlinksldjump"/>
              </a:rPr>
              <a:t>Electricity</a:t>
            </a:r>
            <a:r>
              <a:rPr sz="800" spc="65" dirty="0">
                <a:solidFill>
                  <a:srgbClr val="FCFAF7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800" spc="-25" dirty="0">
                <a:solidFill>
                  <a:srgbClr val="FCFAF7"/>
                </a:solidFill>
                <a:latin typeface="Arial"/>
                <a:cs typeface="Arial"/>
                <a:hlinkClick r:id="rId6" action="ppaction://hlinksldjump"/>
              </a:rPr>
              <a:t>Sales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/>
              <a:t>8</a:t>
            </a:fld>
            <a:r>
              <a:rPr spc="45" dirty="0"/>
              <a:t> </a:t>
            </a:r>
            <a:r>
              <a:rPr spc="195" dirty="0"/>
              <a:t>/</a:t>
            </a:r>
            <a:r>
              <a:rPr spc="50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228864"/>
            <a:ext cx="3602406" cy="2891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60" dirty="0"/>
              <a:t>Regression</a:t>
            </a:r>
            <a:r>
              <a:rPr spc="35" dirty="0"/>
              <a:t> </a:t>
            </a:r>
            <a:r>
              <a:rPr spc="-100" dirty="0"/>
              <a:t>Model</a:t>
            </a:r>
            <a:r>
              <a:rPr spc="25" dirty="0"/>
              <a:t> </a:t>
            </a:r>
            <a:r>
              <a:rPr dirty="0"/>
              <a:t>&amp;</a:t>
            </a:r>
            <a:r>
              <a:rPr spc="30" dirty="0"/>
              <a:t> </a:t>
            </a:r>
            <a:r>
              <a:rPr spc="-150" dirty="0"/>
              <a:t>Key</a:t>
            </a:r>
            <a:r>
              <a:rPr spc="35" dirty="0"/>
              <a:t> </a:t>
            </a:r>
            <a:r>
              <a:rPr spc="-140" dirty="0"/>
              <a:t>Results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533081"/>
            <a:ext cx="5400040" cy="33020"/>
            <a:chOff x="359994" y="533081"/>
            <a:chExt cx="5400040" cy="33020"/>
          </a:xfrm>
        </p:grpSpPr>
        <p:sp>
          <p:nvSpPr>
            <p:cNvPr id="4" name="object 4"/>
            <p:cNvSpPr/>
            <p:nvPr/>
          </p:nvSpPr>
          <p:spPr>
            <a:xfrm>
              <a:off x="359994" y="543880"/>
              <a:ext cx="5400040" cy="22225"/>
            </a:xfrm>
            <a:custGeom>
              <a:avLst/>
              <a:gdLst/>
              <a:ahLst/>
              <a:cxnLst/>
              <a:rect l="l" t="t" r="r" b="b"/>
              <a:pathLst>
                <a:path w="5400040" h="22225">
                  <a:moveTo>
                    <a:pt x="5400001" y="0"/>
                  </a:moveTo>
                  <a:lnTo>
                    <a:pt x="0" y="0"/>
                  </a:lnTo>
                  <a:lnTo>
                    <a:pt x="0" y="21599"/>
                  </a:lnTo>
                  <a:lnTo>
                    <a:pt x="5400001" y="21599"/>
                  </a:lnTo>
                  <a:lnTo>
                    <a:pt x="5400001" y="0"/>
                  </a:lnTo>
                  <a:close/>
                </a:path>
              </a:pathLst>
            </a:custGeom>
            <a:solidFill>
              <a:srgbClr val="1965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9994" y="533081"/>
              <a:ext cx="2592070" cy="10795"/>
            </a:xfrm>
            <a:custGeom>
              <a:avLst/>
              <a:gdLst/>
              <a:ahLst/>
              <a:cxnLst/>
              <a:rect l="l" t="t" r="r" b="b"/>
              <a:pathLst>
                <a:path w="2592070" h="10795">
                  <a:moveTo>
                    <a:pt x="0" y="10799"/>
                  </a:moveTo>
                  <a:lnTo>
                    <a:pt x="0" y="0"/>
                  </a:lnTo>
                  <a:lnTo>
                    <a:pt x="2592015" y="0"/>
                  </a:lnTo>
                  <a:lnTo>
                    <a:pt x="2592015" y="10799"/>
                  </a:lnTo>
                  <a:lnTo>
                    <a:pt x="0" y="10799"/>
                  </a:lnTo>
                  <a:close/>
                </a:path>
              </a:pathLst>
            </a:custGeom>
            <a:solidFill>
              <a:srgbClr val="F3A1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551" y="1475422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551" y="1654111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2551" y="1832800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2551" y="2290622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2551" y="2469311"/>
            <a:ext cx="65265" cy="652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02551" y="2648000"/>
            <a:ext cx="65265" cy="6526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96494" y="538630"/>
            <a:ext cx="5003800" cy="222625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740"/>
              </a:spcBef>
            </a:pPr>
            <a:r>
              <a:rPr sz="1100" spc="-10" dirty="0">
                <a:solidFill>
                  <a:srgbClr val="1F2833"/>
                </a:solidFill>
                <a:latin typeface="Arial Black"/>
                <a:cs typeface="Arial Black"/>
              </a:rPr>
              <a:t>Model</a:t>
            </a:r>
            <a:endParaRPr sz="1100" dirty="0">
              <a:latin typeface="Arial Black"/>
              <a:cs typeface="Arial Black"/>
            </a:endParaRPr>
          </a:p>
          <a:p>
            <a:pPr marL="163195" algn="ctr">
              <a:lnSpc>
                <a:spcPct val="100000"/>
              </a:lnSpc>
              <a:spcBef>
                <a:spcPts val="635"/>
              </a:spcBef>
            </a:pPr>
            <a:r>
              <a:rPr sz="1100" spc="-10" dirty="0">
                <a:solidFill>
                  <a:srgbClr val="1F2833"/>
                </a:solidFill>
                <a:latin typeface="Palatino Linotype"/>
                <a:cs typeface="Palatino Linotype"/>
              </a:rPr>
              <a:t>log(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Value</a:t>
            </a:r>
            <a:r>
              <a:rPr sz="1100" spc="-10" dirty="0">
                <a:solidFill>
                  <a:srgbClr val="1F2833"/>
                </a:solidFill>
                <a:latin typeface="Palatino Linotype"/>
                <a:cs typeface="Palatino Linotype"/>
              </a:rPr>
              <a:t>)</a:t>
            </a:r>
            <a:r>
              <a:rPr sz="1100" spc="5" dirty="0">
                <a:solidFill>
                  <a:srgbClr val="1F2833"/>
                </a:solidFill>
                <a:latin typeface="Palatino Linotype"/>
                <a:cs typeface="Palatino Linotype"/>
              </a:rPr>
              <a:t> </a:t>
            </a:r>
            <a:r>
              <a:rPr sz="1100" spc="295" dirty="0">
                <a:solidFill>
                  <a:srgbClr val="1F2833"/>
                </a:solidFill>
                <a:latin typeface="Palatino Linotype"/>
                <a:cs typeface="Palatino Linotype"/>
              </a:rPr>
              <a:t>=</a:t>
            </a:r>
            <a:r>
              <a:rPr sz="1100" spc="15" dirty="0">
                <a:solidFill>
                  <a:srgbClr val="1F2833"/>
                </a:solidFill>
                <a:latin typeface="Palatino Linotype"/>
                <a:cs typeface="Palatino Linotype"/>
              </a:rPr>
              <a:t> </a:t>
            </a:r>
            <a:r>
              <a:rPr sz="1100" i="1" dirty="0">
                <a:solidFill>
                  <a:srgbClr val="1F2833"/>
                </a:solidFill>
                <a:latin typeface="Georgia"/>
                <a:cs typeface="Georgia"/>
              </a:rPr>
              <a:t>β</a:t>
            </a:r>
            <a:r>
              <a:rPr sz="1200" baseline="-10416" dirty="0">
                <a:solidFill>
                  <a:srgbClr val="1F2833"/>
                </a:solidFill>
                <a:latin typeface="Trebuchet MS"/>
                <a:cs typeface="Trebuchet MS"/>
              </a:rPr>
              <a:t>0</a:t>
            </a:r>
            <a:r>
              <a:rPr sz="1200" spc="67" baseline="-10416" dirty="0">
                <a:solidFill>
                  <a:srgbClr val="1F2833"/>
                </a:solidFill>
                <a:latin typeface="Trebuchet MS"/>
                <a:cs typeface="Trebuchet MS"/>
              </a:rPr>
              <a:t> </a:t>
            </a:r>
            <a:r>
              <a:rPr sz="1100" spc="295" dirty="0">
                <a:solidFill>
                  <a:srgbClr val="1F2833"/>
                </a:solidFill>
                <a:latin typeface="Palatino Linotype"/>
                <a:cs typeface="Palatino Linotype"/>
              </a:rPr>
              <a:t>+</a:t>
            </a:r>
            <a:r>
              <a:rPr sz="1100" spc="-40" dirty="0">
                <a:solidFill>
                  <a:srgbClr val="1F2833"/>
                </a:solidFill>
                <a:latin typeface="Palatino Linotype"/>
                <a:cs typeface="Palatino Linotype"/>
              </a:rPr>
              <a:t> </a:t>
            </a:r>
            <a:r>
              <a:rPr sz="1100" i="1" spc="-10" dirty="0">
                <a:solidFill>
                  <a:srgbClr val="1F2833"/>
                </a:solidFill>
                <a:latin typeface="Georgia"/>
                <a:cs typeface="Georgia"/>
              </a:rPr>
              <a:t>β</a:t>
            </a:r>
            <a:r>
              <a:rPr sz="1200" spc="-15" baseline="-10416" dirty="0">
                <a:solidFill>
                  <a:srgbClr val="1F2833"/>
                </a:solidFill>
                <a:latin typeface="Trebuchet MS"/>
                <a:cs typeface="Trebuchet MS"/>
              </a:rPr>
              <a:t>1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Time</a:t>
            </a:r>
            <a:r>
              <a:rPr sz="1100" spc="-10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295" dirty="0">
                <a:solidFill>
                  <a:srgbClr val="1F2833"/>
                </a:solidFill>
                <a:latin typeface="Palatino Linotype"/>
                <a:cs typeface="Palatino Linotype"/>
              </a:rPr>
              <a:t>+</a:t>
            </a:r>
            <a:r>
              <a:rPr sz="1100" spc="-40" dirty="0">
                <a:solidFill>
                  <a:srgbClr val="1F2833"/>
                </a:solidFill>
                <a:latin typeface="Palatino Linotype"/>
                <a:cs typeface="Palatino Linotype"/>
              </a:rPr>
              <a:t> </a:t>
            </a: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Region</a:t>
            </a:r>
            <a:r>
              <a:rPr sz="1100" spc="1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1F2833"/>
                </a:solidFill>
                <a:latin typeface="Tahoma"/>
                <a:cs typeface="Tahoma"/>
              </a:rPr>
              <a:t>effects</a:t>
            </a:r>
            <a:r>
              <a:rPr sz="1100" spc="-10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295" dirty="0">
                <a:solidFill>
                  <a:srgbClr val="1F2833"/>
                </a:solidFill>
                <a:latin typeface="Palatino Linotype"/>
                <a:cs typeface="Palatino Linotype"/>
              </a:rPr>
              <a:t>+</a:t>
            </a:r>
            <a:r>
              <a:rPr sz="1100" spc="-40" dirty="0">
                <a:solidFill>
                  <a:srgbClr val="1F2833"/>
                </a:solidFill>
                <a:latin typeface="Palatino Linotype"/>
                <a:cs typeface="Palatino Linotype"/>
              </a:rPr>
              <a:t> </a:t>
            </a: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Sector</a:t>
            </a:r>
            <a:r>
              <a:rPr sz="1100" spc="1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1F2833"/>
                </a:solidFill>
                <a:latin typeface="Tahoma"/>
                <a:cs typeface="Tahoma"/>
              </a:rPr>
              <a:t>effects</a:t>
            </a:r>
            <a:r>
              <a:rPr sz="1100" spc="-10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295" dirty="0">
                <a:solidFill>
                  <a:srgbClr val="1F2833"/>
                </a:solidFill>
                <a:latin typeface="Palatino Linotype"/>
                <a:cs typeface="Palatino Linotype"/>
              </a:rPr>
              <a:t>+</a:t>
            </a:r>
            <a:r>
              <a:rPr sz="1100" spc="-40" dirty="0">
                <a:solidFill>
                  <a:srgbClr val="1F2833"/>
                </a:solidFill>
                <a:latin typeface="Palatino Linotype"/>
                <a:cs typeface="Palatino Linotype"/>
              </a:rPr>
              <a:t> </a:t>
            </a:r>
            <a:r>
              <a:rPr sz="1100" i="1" spc="-50" dirty="0">
                <a:solidFill>
                  <a:srgbClr val="1F2833"/>
                </a:solidFill>
                <a:latin typeface="Georgia"/>
                <a:cs typeface="Georgia"/>
              </a:rPr>
              <a:t>ε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100" dirty="0">
              <a:latin typeface="Georgia"/>
              <a:cs typeface="Georgia"/>
            </a:endParaRPr>
          </a:p>
          <a:p>
            <a:pPr marL="63500">
              <a:lnSpc>
                <a:spcPct val="100000"/>
              </a:lnSpc>
            </a:pPr>
            <a:r>
              <a:rPr sz="1100" spc="-25" dirty="0">
                <a:solidFill>
                  <a:srgbClr val="1F2833"/>
                </a:solidFill>
                <a:latin typeface="Arial Black"/>
                <a:cs typeface="Arial Black"/>
              </a:rPr>
              <a:t>Fit</a:t>
            </a:r>
            <a:endParaRPr sz="1100" dirty="0">
              <a:latin typeface="Arial Black"/>
              <a:cs typeface="Arial Black"/>
            </a:endParaRPr>
          </a:p>
          <a:p>
            <a:pPr marL="340360">
              <a:lnSpc>
                <a:spcPct val="100000"/>
              </a:lnSpc>
              <a:spcBef>
                <a:spcPts val="130"/>
              </a:spcBef>
            </a:pPr>
            <a:r>
              <a:rPr sz="1100" dirty="0">
                <a:solidFill>
                  <a:srgbClr val="1F2833"/>
                </a:solidFill>
                <a:latin typeface="Tahoma"/>
                <a:cs typeface="Tahoma"/>
              </a:rPr>
              <a:t>Log</a:t>
            </a:r>
            <a:r>
              <a:rPr sz="1100" spc="-7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model:</a:t>
            </a:r>
            <a:r>
              <a:rPr sz="1100" spc="7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1F2833"/>
                </a:solidFill>
                <a:latin typeface="Georgia"/>
                <a:cs typeface="Georgia"/>
              </a:rPr>
              <a:t>R</a:t>
            </a:r>
            <a:r>
              <a:rPr sz="1200" baseline="27777" dirty="0">
                <a:solidFill>
                  <a:srgbClr val="1F2833"/>
                </a:solidFill>
                <a:latin typeface="Trebuchet MS"/>
                <a:cs typeface="Trebuchet MS"/>
              </a:rPr>
              <a:t>2</a:t>
            </a:r>
            <a:r>
              <a:rPr sz="1200" spc="97" baseline="27777" dirty="0">
                <a:solidFill>
                  <a:srgbClr val="1F2833"/>
                </a:solidFill>
                <a:latin typeface="Trebuchet MS"/>
                <a:cs typeface="Trebuchet MS"/>
              </a:rPr>
              <a:t> </a:t>
            </a:r>
            <a:r>
              <a:rPr sz="1100" i="1" spc="-50" dirty="0">
                <a:solidFill>
                  <a:srgbClr val="1F2833"/>
                </a:solidFill>
                <a:latin typeface="Meiryo UI"/>
                <a:cs typeface="Meiryo UI"/>
              </a:rPr>
              <a:t>≈</a:t>
            </a:r>
            <a:r>
              <a:rPr sz="1100" i="1" spc="-75" dirty="0">
                <a:solidFill>
                  <a:srgbClr val="1F2833"/>
                </a:solidFill>
                <a:latin typeface="Meiryo UI"/>
                <a:cs typeface="Meiryo UI"/>
              </a:rPr>
              <a:t> </a:t>
            </a:r>
            <a:r>
              <a:rPr sz="1100" dirty="0">
                <a:solidFill>
                  <a:srgbClr val="1F2833"/>
                </a:solidFill>
                <a:latin typeface="Palatino Linotype"/>
                <a:cs typeface="Palatino Linotype"/>
              </a:rPr>
              <a:t>0</a:t>
            </a:r>
            <a:r>
              <a:rPr sz="1100" i="1" dirty="0">
                <a:solidFill>
                  <a:srgbClr val="1F2833"/>
                </a:solidFill>
                <a:latin typeface="Georgia"/>
                <a:cs typeface="Georgia"/>
              </a:rPr>
              <a:t>.</a:t>
            </a:r>
            <a:r>
              <a:rPr sz="1100" dirty="0">
                <a:solidFill>
                  <a:srgbClr val="1F2833"/>
                </a:solidFill>
                <a:latin typeface="Palatino Linotype"/>
                <a:cs typeface="Palatino Linotype"/>
              </a:rPr>
              <a:t>43</a:t>
            </a:r>
            <a:r>
              <a:rPr sz="1100" spc="35" dirty="0">
                <a:solidFill>
                  <a:srgbClr val="1F2833"/>
                </a:solidFill>
                <a:latin typeface="Palatino Linotype"/>
                <a:cs typeface="Palatino Linotype"/>
              </a:rPr>
              <a:t> 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(vs.</a:t>
            </a:r>
            <a:r>
              <a:rPr sz="1100" spc="7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F2833"/>
                </a:solidFill>
                <a:latin typeface="Tahoma"/>
                <a:cs typeface="Tahoma"/>
              </a:rPr>
              <a:t>0.24</a:t>
            </a: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F2833"/>
                </a:solidFill>
                <a:latin typeface="Tahoma"/>
                <a:cs typeface="Tahoma"/>
              </a:rPr>
              <a:t>on</a:t>
            </a: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F2833"/>
                </a:solidFill>
                <a:latin typeface="Tahoma"/>
                <a:cs typeface="Tahoma"/>
              </a:rPr>
              <a:t>raw</a:t>
            </a:r>
            <a:r>
              <a:rPr sz="1100" spc="-3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scale)</a:t>
            </a:r>
            <a:endParaRPr sz="1100" dirty="0">
              <a:latin typeface="Tahoma"/>
              <a:cs typeface="Tahoma"/>
            </a:endParaRPr>
          </a:p>
          <a:p>
            <a:pPr marL="340360">
              <a:lnSpc>
                <a:spcPct val="100000"/>
              </a:lnSpc>
              <a:spcBef>
                <a:spcPts val="85"/>
              </a:spcBef>
            </a:pPr>
            <a:r>
              <a:rPr sz="1100" i="1" dirty="0">
                <a:solidFill>
                  <a:srgbClr val="1F2833"/>
                </a:solidFill>
                <a:latin typeface="Georgia"/>
                <a:cs typeface="Georgia"/>
              </a:rPr>
              <a:t>β</a:t>
            </a:r>
            <a:r>
              <a:rPr sz="1200" baseline="-10416" dirty="0">
                <a:solidFill>
                  <a:srgbClr val="1F2833"/>
                </a:solidFill>
                <a:latin typeface="Trebuchet MS"/>
                <a:cs typeface="Trebuchet MS"/>
              </a:rPr>
              <a:t>0</a:t>
            </a:r>
            <a:r>
              <a:rPr sz="1200" spc="157" baseline="-10416" dirty="0">
                <a:solidFill>
                  <a:srgbClr val="1F2833"/>
                </a:solidFill>
                <a:latin typeface="Trebuchet MS"/>
                <a:cs typeface="Trebuchet MS"/>
              </a:rPr>
              <a:t> </a:t>
            </a:r>
            <a:r>
              <a:rPr sz="1100" spc="-30" dirty="0">
                <a:solidFill>
                  <a:srgbClr val="1F2833"/>
                </a:solidFill>
                <a:latin typeface="Tahoma"/>
                <a:cs typeface="Tahoma"/>
              </a:rPr>
              <a:t>(Baseline):</a:t>
            </a:r>
            <a:r>
              <a:rPr sz="1100" spc="7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1F2833"/>
                </a:solidFill>
                <a:latin typeface="Tahoma"/>
                <a:cs typeface="Tahoma"/>
              </a:rPr>
              <a:t>Log-</a:t>
            </a:r>
            <a:r>
              <a:rPr sz="1100" spc="-40" dirty="0">
                <a:solidFill>
                  <a:srgbClr val="1F2833"/>
                </a:solidFill>
                <a:latin typeface="Tahoma"/>
                <a:cs typeface="Tahoma"/>
              </a:rPr>
              <a:t>usage</a:t>
            </a:r>
            <a:r>
              <a:rPr sz="1100" spc="-3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F2833"/>
                </a:solidFill>
                <a:latin typeface="Tahoma"/>
                <a:cs typeface="Tahoma"/>
              </a:rPr>
              <a:t>for</a:t>
            </a: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F2833"/>
                </a:solidFill>
                <a:latin typeface="Palatino Linotype"/>
                <a:cs typeface="Palatino Linotype"/>
              </a:rPr>
              <a:t>Midwest–</a:t>
            </a:r>
            <a:r>
              <a:rPr sz="1100" spc="-25" dirty="0">
                <a:solidFill>
                  <a:srgbClr val="1F2833"/>
                </a:solidFill>
                <a:latin typeface="Palatino Linotype"/>
                <a:cs typeface="Palatino Linotype"/>
              </a:rPr>
              <a:t>Commercial</a:t>
            </a:r>
            <a:r>
              <a:rPr sz="1100" spc="35" dirty="0">
                <a:solidFill>
                  <a:srgbClr val="1F2833"/>
                </a:solidFill>
                <a:latin typeface="Palatino Linotype"/>
                <a:cs typeface="Palatino Linotype"/>
              </a:rPr>
              <a:t> </a:t>
            </a:r>
            <a:r>
              <a:rPr sz="1100" dirty="0">
                <a:solidFill>
                  <a:srgbClr val="1F2833"/>
                </a:solidFill>
                <a:latin typeface="Tahoma"/>
                <a:cs typeface="Tahoma"/>
              </a:rPr>
              <a:t>at</a:t>
            </a:r>
            <a:r>
              <a:rPr sz="1100" spc="-4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the</a:t>
            </a:r>
            <a:r>
              <a:rPr sz="1100" spc="-3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start</a:t>
            </a:r>
            <a:r>
              <a:rPr sz="1100" spc="-4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F2833"/>
                </a:solidFill>
                <a:latin typeface="Tahoma"/>
                <a:cs typeface="Tahoma"/>
              </a:rPr>
              <a:t>of</a:t>
            </a: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the</a:t>
            </a:r>
            <a:r>
              <a:rPr sz="1100" spc="-3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dataset.</a:t>
            </a:r>
            <a:endParaRPr sz="1100" dirty="0">
              <a:latin typeface="Tahoma"/>
              <a:cs typeface="Tahoma"/>
            </a:endParaRPr>
          </a:p>
          <a:p>
            <a:pPr marL="34036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solidFill>
                  <a:srgbClr val="1F2833"/>
                </a:solidFill>
                <a:latin typeface="Georgia"/>
                <a:cs typeface="Georgia"/>
              </a:rPr>
              <a:t>β</a:t>
            </a:r>
            <a:r>
              <a:rPr sz="1200" baseline="-10416" dirty="0">
                <a:solidFill>
                  <a:srgbClr val="1F2833"/>
                </a:solidFill>
                <a:latin typeface="Trebuchet MS"/>
                <a:cs typeface="Trebuchet MS"/>
              </a:rPr>
              <a:t>1</a:t>
            </a:r>
            <a:r>
              <a:rPr sz="1200" spc="135" baseline="-10416" dirty="0">
                <a:solidFill>
                  <a:srgbClr val="1F2833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1F2833"/>
                </a:solidFill>
                <a:latin typeface="Tahoma"/>
                <a:cs typeface="Tahoma"/>
              </a:rPr>
              <a:t>(Time</a:t>
            </a:r>
            <a:r>
              <a:rPr sz="1100" spc="-4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trend):</a:t>
            </a:r>
            <a:r>
              <a:rPr sz="1100" spc="5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F2833"/>
                </a:solidFill>
                <a:latin typeface="Tahoma"/>
                <a:cs typeface="Tahoma"/>
              </a:rPr>
              <a:t>Small,</a:t>
            </a:r>
            <a:r>
              <a:rPr sz="1100" spc="-5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F2833"/>
                </a:solidFill>
                <a:latin typeface="Tahoma"/>
                <a:cs typeface="Tahoma"/>
              </a:rPr>
              <a:t>not</a:t>
            </a:r>
            <a:r>
              <a:rPr sz="1100" spc="-5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statistically</a:t>
            </a:r>
            <a:r>
              <a:rPr sz="1100" spc="-4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significant</a:t>
            </a:r>
            <a:endParaRPr sz="1100" dirty="0">
              <a:latin typeface="Tahoma"/>
              <a:cs typeface="Tahoma"/>
            </a:endParaRPr>
          </a:p>
          <a:p>
            <a:pPr marL="63500">
              <a:lnSpc>
                <a:spcPct val="100000"/>
              </a:lnSpc>
              <a:spcBef>
                <a:spcPts val="835"/>
              </a:spcBef>
            </a:pPr>
            <a:r>
              <a:rPr sz="1100" spc="-114" dirty="0">
                <a:solidFill>
                  <a:srgbClr val="1F2833"/>
                </a:solidFill>
                <a:latin typeface="Arial Black"/>
                <a:cs typeface="Arial Black"/>
              </a:rPr>
              <a:t>Strong</a:t>
            </a:r>
            <a:r>
              <a:rPr sz="1100" spc="45" dirty="0">
                <a:solidFill>
                  <a:srgbClr val="1F2833"/>
                </a:solidFill>
                <a:latin typeface="Arial Black"/>
                <a:cs typeface="Arial Black"/>
              </a:rPr>
              <a:t> </a:t>
            </a:r>
            <a:r>
              <a:rPr sz="1100" spc="-155" dirty="0">
                <a:solidFill>
                  <a:srgbClr val="1F2833"/>
                </a:solidFill>
                <a:latin typeface="Arial Black"/>
                <a:cs typeface="Arial Black"/>
              </a:rPr>
              <a:t>effects</a:t>
            </a:r>
            <a:r>
              <a:rPr sz="1100" spc="50" dirty="0">
                <a:solidFill>
                  <a:srgbClr val="1F2833"/>
                </a:solidFill>
                <a:latin typeface="Arial Black"/>
                <a:cs typeface="Arial Black"/>
              </a:rPr>
              <a:t> </a:t>
            </a:r>
            <a:r>
              <a:rPr sz="1100" spc="-110" dirty="0">
                <a:solidFill>
                  <a:srgbClr val="1F2833"/>
                </a:solidFill>
                <a:latin typeface="Arial Black"/>
                <a:cs typeface="Arial Black"/>
              </a:rPr>
              <a:t>(relative</a:t>
            </a:r>
            <a:r>
              <a:rPr sz="1100" spc="45" dirty="0">
                <a:solidFill>
                  <a:srgbClr val="1F2833"/>
                </a:solidFill>
                <a:latin typeface="Arial Black"/>
                <a:cs typeface="Arial Black"/>
              </a:rPr>
              <a:t> </a:t>
            </a:r>
            <a:r>
              <a:rPr sz="1100" spc="-85" dirty="0">
                <a:solidFill>
                  <a:srgbClr val="1F2833"/>
                </a:solidFill>
                <a:latin typeface="Arial Black"/>
                <a:cs typeface="Arial Black"/>
              </a:rPr>
              <a:t>to</a:t>
            </a:r>
            <a:r>
              <a:rPr sz="1100" spc="50" dirty="0">
                <a:solidFill>
                  <a:srgbClr val="1F2833"/>
                </a:solidFill>
                <a:latin typeface="Arial Black"/>
                <a:cs typeface="Arial Black"/>
              </a:rPr>
              <a:t> </a:t>
            </a:r>
            <a:r>
              <a:rPr sz="1100" spc="-135" dirty="0">
                <a:solidFill>
                  <a:srgbClr val="1F2833"/>
                </a:solidFill>
                <a:latin typeface="Arial Black"/>
                <a:cs typeface="Arial Black"/>
              </a:rPr>
              <a:t>Midwest</a:t>
            </a:r>
            <a:r>
              <a:rPr sz="1100" spc="45" dirty="0">
                <a:solidFill>
                  <a:srgbClr val="1F2833"/>
                </a:solidFill>
                <a:latin typeface="Arial Black"/>
                <a:cs typeface="Arial Black"/>
              </a:rPr>
              <a:t> </a:t>
            </a:r>
            <a:r>
              <a:rPr sz="1100" spc="300" dirty="0">
                <a:solidFill>
                  <a:srgbClr val="1F2833"/>
                </a:solidFill>
                <a:latin typeface="Arial Black"/>
                <a:cs typeface="Arial Black"/>
              </a:rPr>
              <a:t>/</a:t>
            </a:r>
            <a:r>
              <a:rPr sz="1100" spc="50" dirty="0">
                <a:solidFill>
                  <a:srgbClr val="1F2833"/>
                </a:solidFill>
                <a:latin typeface="Arial Black"/>
                <a:cs typeface="Arial Black"/>
              </a:rPr>
              <a:t> </a:t>
            </a:r>
            <a:r>
              <a:rPr sz="1100" spc="-30" dirty="0">
                <a:solidFill>
                  <a:srgbClr val="1F2833"/>
                </a:solidFill>
                <a:latin typeface="Arial Black"/>
                <a:cs typeface="Arial Black"/>
              </a:rPr>
              <a:t>Commercial)</a:t>
            </a:r>
            <a:endParaRPr sz="1100" dirty="0">
              <a:latin typeface="Arial Black"/>
              <a:cs typeface="Arial Black"/>
            </a:endParaRPr>
          </a:p>
          <a:p>
            <a:pPr marL="340360">
              <a:lnSpc>
                <a:spcPct val="100000"/>
              </a:lnSpc>
              <a:spcBef>
                <a:spcPts val="130"/>
              </a:spcBef>
            </a:pPr>
            <a:r>
              <a:rPr sz="1100" spc="-20" dirty="0">
                <a:solidFill>
                  <a:srgbClr val="1F2833"/>
                </a:solidFill>
                <a:latin typeface="Tahoma"/>
                <a:cs typeface="Tahoma"/>
              </a:rPr>
              <a:t>South:</a:t>
            </a:r>
            <a:r>
              <a:rPr sz="1100" spc="4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i="1" spc="-50" dirty="0">
                <a:solidFill>
                  <a:srgbClr val="1F2833"/>
                </a:solidFill>
                <a:latin typeface="Meiryo UI"/>
                <a:cs typeface="Meiryo UI"/>
              </a:rPr>
              <a:t>≈</a:t>
            </a:r>
            <a:r>
              <a:rPr sz="1100" i="1" spc="-75" dirty="0">
                <a:solidFill>
                  <a:srgbClr val="1F2833"/>
                </a:solidFill>
                <a:latin typeface="Meiryo UI"/>
                <a:cs typeface="Meiryo UI"/>
              </a:rPr>
              <a:t> </a:t>
            </a:r>
            <a:r>
              <a:rPr sz="1100" dirty="0">
                <a:solidFill>
                  <a:srgbClr val="1F2833"/>
                </a:solidFill>
                <a:latin typeface="Palatino Linotype"/>
                <a:cs typeface="Palatino Linotype"/>
              </a:rPr>
              <a:t>+58%</a:t>
            </a:r>
            <a:r>
              <a:rPr sz="1100" dirty="0">
                <a:solidFill>
                  <a:srgbClr val="1F2833"/>
                </a:solidFill>
                <a:latin typeface="Tahoma"/>
                <a:cs typeface="Tahoma"/>
              </a:rPr>
              <a:t>;</a:t>
            </a:r>
            <a:r>
              <a:rPr sz="1100" spc="-1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F2833"/>
                </a:solidFill>
                <a:latin typeface="Tahoma"/>
                <a:cs typeface="Tahoma"/>
              </a:rPr>
              <a:t>West:</a:t>
            </a:r>
            <a:r>
              <a:rPr sz="1100" spc="10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i="1" spc="-50" dirty="0">
                <a:solidFill>
                  <a:srgbClr val="1F2833"/>
                </a:solidFill>
                <a:latin typeface="Meiryo UI"/>
                <a:cs typeface="Meiryo UI"/>
              </a:rPr>
              <a:t>≈</a:t>
            </a:r>
            <a:r>
              <a:rPr sz="1100" i="1" spc="-75" dirty="0">
                <a:solidFill>
                  <a:srgbClr val="1F2833"/>
                </a:solidFill>
                <a:latin typeface="Meiryo UI"/>
                <a:cs typeface="Meiryo UI"/>
              </a:rPr>
              <a:t> </a:t>
            </a:r>
            <a:r>
              <a:rPr sz="1100" i="1" spc="-20" dirty="0">
                <a:solidFill>
                  <a:srgbClr val="1F2833"/>
                </a:solidFill>
                <a:latin typeface="Meiryo UI"/>
                <a:cs typeface="Meiryo UI"/>
              </a:rPr>
              <a:t>−</a:t>
            </a:r>
            <a:r>
              <a:rPr sz="1100" spc="-20" dirty="0">
                <a:solidFill>
                  <a:srgbClr val="1F2833"/>
                </a:solidFill>
                <a:latin typeface="Palatino Linotype"/>
                <a:cs typeface="Palatino Linotype"/>
              </a:rPr>
              <a:t>21%</a:t>
            </a:r>
            <a:r>
              <a:rPr sz="1100" spc="-20" dirty="0">
                <a:solidFill>
                  <a:srgbClr val="1F2833"/>
                </a:solidFill>
                <a:latin typeface="Tahoma"/>
                <a:cs typeface="Tahoma"/>
              </a:rPr>
              <a:t>;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Northeast:</a:t>
            </a:r>
            <a:r>
              <a:rPr sz="1100" spc="10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i="1" spc="-50" dirty="0">
                <a:solidFill>
                  <a:srgbClr val="1F2833"/>
                </a:solidFill>
                <a:latin typeface="Meiryo UI"/>
                <a:cs typeface="Meiryo UI"/>
              </a:rPr>
              <a:t>≈</a:t>
            </a:r>
            <a:r>
              <a:rPr sz="1100" i="1" spc="-75" dirty="0">
                <a:solidFill>
                  <a:srgbClr val="1F2833"/>
                </a:solidFill>
                <a:latin typeface="Meiryo UI"/>
                <a:cs typeface="Meiryo UI"/>
              </a:rPr>
              <a:t> </a:t>
            </a:r>
            <a:r>
              <a:rPr sz="1100" i="1" spc="-20" dirty="0">
                <a:solidFill>
                  <a:srgbClr val="1F2833"/>
                </a:solidFill>
                <a:latin typeface="Meiryo UI"/>
                <a:cs typeface="Meiryo UI"/>
              </a:rPr>
              <a:t>−</a:t>
            </a:r>
            <a:r>
              <a:rPr sz="1100" spc="-20" dirty="0">
                <a:solidFill>
                  <a:srgbClr val="1F2833"/>
                </a:solidFill>
                <a:latin typeface="Palatino Linotype"/>
                <a:cs typeface="Palatino Linotype"/>
              </a:rPr>
              <a:t>20%</a:t>
            </a:r>
            <a:endParaRPr sz="1100" dirty="0">
              <a:latin typeface="Palatino Linotype"/>
              <a:cs typeface="Palatino Linotype"/>
            </a:endParaRPr>
          </a:p>
          <a:p>
            <a:pPr marL="340360">
              <a:lnSpc>
                <a:spcPct val="100000"/>
              </a:lnSpc>
              <a:spcBef>
                <a:spcPts val="85"/>
              </a:spcBef>
            </a:pP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Residential:</a:t>
            </a:r>
            <a:r>
              <a:rPr sz="1100" spc="13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i="1" spc="-50" dirty="0">
                <a:solidFill>
                  <a:srgbClr val="1F2833"/>
                </a:solidFill>
                <a:latin typeface="Meiryo UI"/>
                <a:cs typeface="Meiryo UI"/>
              </a:rPr>
              <a:t>≈</a:t>
            </a:r>
            <a:r>
              <a:rPr sz="1100" i="1" spc="-75" dirty="0">
                <a:solidFill>
                  <a:srgbClr val="1F2833"/>
                </a:solidFill>
                <a:latin typeface="Meiryo UI"/>
                <a:cs typeface="Meiryo UI"/>
              </a:rPr>
              <a:t> </a:t>
            </a:r>
            <a:r>
              <a:rPr sz="1100" dirty="0">
                <a:solidFill>
                  <a:srgbClr val="1F2833"/>
                </a:solidFill>
                <a:latin typeface="Palatino Linotype"/>
                <a:cs typeface="Palatino Linotype"/>
              </a:rPr>
              <a:t>+7%</a:t>
            </a:r>
            <a:r>
              <a:rPr sz="1100" dirty="0">
                <a:solidFill>
                  <a:srgbClr val="1F2833"/>
                </a:solidFill>
                <a:latin typeface="Tahoma"/>
                <a:cs typeface="Tahoma"/>
              </a:rPr>
              <a:t>;</a:t>
            </a:r>
            <a:r>
              <a:rPr sz="1100" spc="1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Industrial:</a:t>
            </a:r>
            <a:r>
              <a:rPr sz="1100" spc="14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i="1" spc="-50" dirty="0">
                <a:solidFill>
                  <a:srgbClr val="1F2833"/>
                </a:solidFill>
                <a:latin typeface="Meiryo UI"/>
                <a:cs typeface="Meiryo UI"/>
              </a:rPr>
              <a:t>≈</a:t>
            </a:r>
            <a:r>
              <a:rPr sz="1100" i="1" spc="-75" dirty="0">
                <a:solidFill>
                  <a:srgbClr val="1F2833"/>
                </a:solidFill>
                <a:latin typeface="Meiryo UI"/>
                <a:cs typeface="Meiryo UI"/>
              </a:rPr>
              <a:t> </a:t>
            </a:r>
            <a:r>
              <a:rPr sz="1100" i="1" spc="-20" dirty="0">
                <a:solidFill>
                  <a:srgbClr val="1F2833"/>
                </a:solidFill>
                <a:latin typeface="Meiryo UI"/>
                <a:cs typeface="Meiryo UI"/>
              </a:rPr>
              <a:t>−</a:t>
            </a:r>
            <a:r>
              <a:rPr sz="1100" spc="-20" dirty="0">
                <a:solidFill>
                  <a:srgbClr val="1F2833"/>
                </a:solidFill>
                <a:latin typeface="Palatino Linotype"/>
                <a:cs typeface="Palatino Linotype"/>
              </a:rPr>
              <a:t>27%</a:t>
            </a:r>
            <a:endParaRPr sz="1100" dirty="0">
              <a:latin typeface="Palatino Linotype"/>
              <a:cs typeface="Palatino Linotype"/>
            </a:endParaRPr>
          </a:p>
          <a:p>
            <a:pPr marL="340360">
              <a:lnSpc>
                <a:spcPct val="100000"/>
              </a:lnSpc>
              <a:spcBef>
                <a:spcPts val="85"/>
              </a:spcBef>
            </a:pP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Transportation:</a:t>
            </a:r>
            <a:r>
              <a:rPr sz="1100" spc="7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i="1" spc="-50" dirty="0">
                <a:solidFill>
                  <a:srgbClr val="1F2833"/>
                </a:solidFill>
                <a:latin typeface="Meiryo UI"/>
                <a:cs typeface="Meiryo UI"/>
              </a:rPr>
              <a:t>≈</a:t>
            </a:r>
            <a:r>
              <a:rPr sz="1100" i="1" spc="-75" dirty="0">
                <a:solidFill>
                  <a:srgbClr val="1F2833"/>
                </a:solidFill>
                <a:latin typeface="Meiryo UI"/>
                <a:cs typeface="Meiryo UI"/>
              </a:rPr>
              <a:t> </a:t>
            </a:r>
            <a:r>
              <a:rPr sz="1100" i="1" spc="-10" dirty="0">
                <a:solidFill>
                  <a:srgbClr val="1F2833"/>
                </a:solidFill>
                <a:latin typeface="Meiryo UI"/>
                <a:cs typeface="Meiryo UI"/>
              </a:rPr>
              <a:t>−</a:t>
            </a:r>
            <a:r>
              <a:rPr sz="1100" spc="-10" dirty="0">
                <a:solidFill>
                  <a:srgbClr val="1F2833"/>
                </a:solidFill>
                <a:latin typeface="Palatino Linotype"/>
                <a:cs typeface="Palatino Linotype"/>
              </a:rPr>
              <a:t>99</a:t>
            </a:r>
            <a:r>
              <a:rPr sz="1100" i="1" spc="-10" dirty="0">
                <a:solidFill>
                  <a:srgbClr val="1F2833"/>
                </a:solidFill>
                <a:latin typeface="Georgia"/>
                <a:cs typeface="Georgia"/>
              </a:rPr>
              <a:t>.</a:t>
            </a:r>
            <a:r>
              <a:rPr sz="1100" spc="-10" dirty="0">
                <a:solidFill>
                  <a:srgbClr val="1F2833"/>
                </a:solidFill>
                <a:latin typeface="Palatino Linotype"/>
                <a:cs typeface="Palatino Linotype"/>
              </a:rPr>
              <a:t>8%</a:t>
            </a:r>
            <a:endParaRPr sz="1100" dirty="0">
              <a:latin typeface="Palatino Linotype"/>
              <a:cs typeface="Palatino Linotype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023997"/>
            <a:ext cx="5760085" cy="216535"/>
          </a:xfrm>
          <a:custGeom>
            <a:avLst/>
            <a:gdLst/>
            <a:ahLst/>
            <a:cxnLst/>
            <a:rect l="l" t="t" r="r" b="b"/>
            <a:pathLst>
              <a:path w="5760085" h="216535">
                <a:moveTo>
                  <a:pt x="5759996" y="0"/>
                </a:moveTo>
                <a:lnTo>
                  <a:pt x="0" y="0"/>
                </a:lnTo>
                <a:lnTo>
                  <a:pt x="0" y="216001"/>
                </a:lnTo>
                <a:lnTo>
                  <a:pt x="5759996" y="216001"/>
                </a:lnTo>
                <a:lnTo>
                  <a:pt x="5759996" y="0"/>
                </a:lnTo>
                <a:close/>
              </a:path>
            </a:pathLst>
          </a:custGeom>
          <a:solidFill>
            <a:srgbClr val="1965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67297" y="3002489"/>
            <a:ext cx="1697355" cy="17399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800" dirty="0">
                <a:solidFill>
                  <a:srgbClr val="FCFAF7"/>
                </a:solidFill>
                <a:latin typeface="Arial"/>
                <a:cs typeface="Arial"/>
              </a:rPr>
              <a:t>M.</a:t>
            </a:r>
            <a:r>
              <a:rPr sz="800" spc="65" dirty="0">
                <a:solidFill>
                  <a:srgbClr val="FCFAF7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</a:rPr>
              <a:t>Kolla</a:t>
            </a:r>
            <a:r>
              <a:rPr sz="800" spc="285" dirty="0">
                <a:solidFill>
                  <a:srgbClr val="FCFAF7"/>
                </a:solidFill>
                <a:latin typeface="Arial"/>
                <a:cs typeface="Arial"/>
              </a:rPr>
              <a:t> 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</a:rPr>
              <a:t>|</a:t>
            </a:r>
            <a:r>
              <a:rPr sz="800" spc="290" dirty="0">
                <a:solidFill>
                  <a:srgbClr val="FCFAF7"/>
                </a:solidFill>
                <a:latin typeface="Arial"/>
                <a:cs typeface="Arial"/>
              </a:rPr>
              <a:t> 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  <a:hlinkClick r:id="rId8" action="ppaction://hlinksldjump"/>
              </a:rPr>
              <a:t>Retail</a:t>
            </a:r>
            <a:r>
              <a:rPr sz="800" spc="70" dirty="0">
                <a:solidFill>
                  <a:srgbClr val="FCFAF7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  <a:hlinkClick r:id="rId8" action="ppaction://hlinksldjump"/>
              </a:rPr>
              <a:t>Electricity</a:t>
            </a:r>
            <a:r>
              <a:rPr sz="800" spc="65" dirty="0">
                <a:solidFill>
                  <a:srgbClr val="FCFAF7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800" spc="-25" dirty="0">
                <a:solidFill>
                  <a:srgbClr val="FCFAF7"/>
                </a:solidFill>
                <a:latin typeface="Arial"/>
                <a:cs typeface="Arial"/>
                <a:hlinkClick r:id="rId8" action="ppaction://hlinksldjump"/>
              </a:rPr>
              <a:t>Sales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80507" y="3002489"/>
            <a:ext cx="312420" cy="17399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800" dirty="0">
                <a:solidFill>
                  <a:srgbClr val="FCFAF7"/>
                </a:solidFill>
                <a:latin typeface="Arial"/>
                <a:cs typeface="Arial"/>
              </a:rPr>
              <a:t>9</a:t>
            </a:r>
            <a:r>
              <a:rPr sz="800" spc="45" dirty="0">
                <a:solidFill>
                  <a:srgbClr val="FCFAF7"/>
                </a:solidFill>
                <a:latin typeface="Arial"/>
                <a:cs typeface="Arial"/>
              </a:rPr>
              <a:t> </a:t>
            </a:r>
            <a:r>
              <a:rPr sz="800" spc="195" dirty="0">
                <a:solidFill>
                  <a:srgbClr val="FCFAF7"/>
                </a:solidFill>
                <a:latin typeface="Arial"/>
                <a:cs typeface="Arial"/>
              </a:rPr>
              <a:t>/</a:t>
            </a:r>
            <a:r>
              <a:rPr sz="800" spc="50" dirty="0">
                <a:solidFill>
                  <a:srgbClr val="FCFAF7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FCFAF7"/>
                </a:solidFill>
                <a:latin typeface="Arial"/>
                <a:cs typeface="Arial"/>
              </a:rPr>
              <a:t>14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5" dirty="0"/>
              <a:t>Why</a:t>
            </a:r>
            <a:r>
              <a:rPr spc="-5" dirty="0"/>
              <a:t> </a:t>
            </a:r>
            <a:r>
              <a:rPr spc="-140" dirty="0"/>
              <a:t>Log</a:t>
            </a:r>
            <a:r>
              <a:rPr spc="35" dirty="0"/>
              <a:t> </a:t>
            </a:r>
            <a:r>
              <a:rPr spc="-130" dirty="0"/>
              <a:t>Transformation?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533081"/>
            <a:ext cx="5400040" cy="33020"/>
            <a:chOff x="359994" y="533081"/>
            <a:chExt cx="5400040" cy="33020"/>
          </a:xfrm>
        </p:grpSpPr>
        <p:sp>
          <p:nvSpPr>
            <p:cNvPr id="4" name="object 4"/>
            <p:cNvSpPr/>
            <p:nvPr/>
          </p:nvSpPr>
          <p:spPr>
            <a:xfrm>
              <a:off x="359994" y="543880"/>
              <a:ext cx="5400040" cy="22225"/>
            </a:xfrm>
            <a:custGeom>
              <a:avLst/>
              <a:gdLst/>
              <a:ahLst/>
              <a:cxnLst/>
              <a:rect l="l" t="t" r="r" b="b"/>
              <a:pathLst>
                <a:path w="5400040" h="22225">
                  <a:moveTo>
                    <a:pt x="5400001" y="0"/>
                  </a:moveTo>
                  <a:lnTo>
                    <a:pt x="0" y="0"/>
                  </a:lnTo>
                  <a:lnTo>
                    <a:pt x="0" y="21599"/>
                  </a:lnTo>
                  <a:lnTo>
                    <a:pt x="5400001" y="21599"/>
                  </a:lnTo>
                  <a:lnTo>
                    <a:pt x="5400001" y="0"/>
                  </a:lnTo>
                  <a:close/>
                </a:path>
              </a:pathLst>
            </a:custGeom>
            <a:solidFill>
              <a:srgbClr val="1965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9994" y="533081"/>
              <a:ext cx="2592070" cy="10795"/>
            </a:xfrm>
            <a:custGeom>
              <a:avLst/>
              <a:gdLst/>
              <a:ahLst/>
              <a:cxnLst/>
              <a:rect l="l" t="t" r="r" b="b"/>
              <a:pathLst>
                <a:path w="2592070" h="10795">
                  <a:moveTo>
                    <a:pt x="0" y="10799"/>
                  </a:moveTo>
                  <a:lnTo>
                    <a:pt x="0" y="0"/>
                  </a:lnTo>
                  <a:lnTo>
                    <a:pt x="2592015" y="0"/>
                  </a:lnTo>
                  <a:lnTo>
                    <a:pt x="2592015" y="10799"/>
                  </a:lnTo>
                  <a:lnTo>
                    <a:pt x="0" y="10799"/>
                  </a:lnTo>
                  <a:close/>
                </a:path>
              </a:pathLst>
            </a:custGeom>
            <a:solidFill>
              <a:srgbClr val="F3A1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012" y="663352"/>
            <a:ext cx="4536038" cy="186830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551" y="2728874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2551" y="2900946"/>
            <a:ext cx="65265" cy="652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24395" y="2645421"/>
            <a:ext cx="3399154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spc="-30" dirty="0">
                <a:solidFill>
                  <a:srgbClr val="1F2833"/>
                </a:solidFill>
                <a:latin typeface="Tahoma"/>
                <a:cs typeface="Tahoma"/>
              </a:rPr>
              <a:t>Raw</a:t>
            </a:r>
            <a:r>
              <a:rPr sz="1100" spc="-6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F2833"/>
                </a:solidFill>
                <a:latin typeface="Tahoma"/>
                <a:cs typeface="Tahoma"/>
              </a:rPr>
              <a:t>data:</a:t>
            </a:r>
            <a:r>
              <a:rPr sz="1100" spc="4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1F2833"/>
                </a:solidFill>
                <a:latin typeface="Tahoma"/>
                <a:cs typeface="Tahoma"/>
              </a:rPr>
              <a:t>heavy</a:t>
            </a:r>
            <a:r>
              <a:rPr sz="1100" spc="-3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tails,</a:t>
            </a:r>
            <a:r>
              <a:rPr sz="1100" spc="-5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F2833"/>
                </a:solidFill>
                <a:latin typeface="Tahoma"/>
                <a:cs typeface="Tahoma"/>
              </a:rPr>
              <a:t>strong</a:t>
            </a:r>
            <a:r>
              <a:rPr sz="1100" spc="-5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deviations</a:t>
            </a:r>
            <a:r>
              <a:rPr sz="1100" spc="-5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F2833"/>
                </a:solidFill>
                <a:latin typeface="Tahoma"/>
                <a:cs typeface="Tahoma"/>
              </a:rPr>
              <a:t>from</a:t>
            </a:r>
            <a:r>
              <a:rPr sz="1100" spc="-4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normality </a:t>
            </a:r>
            <a:r>
              <a:rPr sz="1100" dirty="0">
                <a:solidFill>
                  <a:srgbClr val="1F2833"/>
                </a:solidFill>
                <a:latin typeface="Tahoma"/>
                <a:cs typeface="Tahoma"/>
              </a:rPr>
              <a:t>Log</a:t>
            </a:r>
            <a:r>
              <a:rPr sz="1100" spc="-40" dirty="0">
                <a:solidFill>
                  <a:srgbClr val="1F2833"/>
                </a:solidFill>
                <a:latin typeface="Tahoma"/>
                <a:cs typeface="Tahoma"/>
              </a:rPr>
              <a:t> scale:</a:t>
            </a:r>
            <a:r>
              <a:rPr sz="1100" spc="6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F2833"/>
                </a:solidFill>
                <a:latin typeface="Tahoma"/>
                <a:cs typeface="Tahoma"/>
              </a:rPr>
              <a:t>much</a:t>
            </a: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F2833"/>
                </a:solidFill>
                <a:latin typeface="Tahoma"/>
                <a:cs typeface="Tahoma"/>
              </a:rPr>
              <a:t>closer</a:t>
            </a:r>
            <a:r>
              <a:rPr sz="1100" spc="-4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F2833"/>
                </a:solidFill>
                <a:latin typeface="Tahoma"/>
                <a:cs typeface="Tahoma"/>
              </a:rPr>
              <a:t>to</a:t>
            </a: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F2833"/>
                </a:solidFill>
                <a:latin typeface="Tahoma"/>
                <a:cs typeface="Tahoma"/>
              </a:rPr>
              <a:t>normal,</a:t>
            </a: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better</a:t>
            </a:r>
            <a:r>
              <a:rPr sz="1100" spc="-40" dirty="0">
                <a:solidFill>
                  <a:srgbClr val="1F2833"/>
                </a:solidFill>
                <a:latin typeface="Tahoma"/>
                <a:cs typeface="Tahoma"/>
              </a:rPr>
              <a:t> residual </a:t>
            </a: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behavior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023997"/>
            <a:ext cx="5760085" cy="216535"/>
          </a:xfrm>
          <a:custGeom>
            <a:avLst/>
            <a:gdLst/>
            <a:ahLst/>
            <a:cxnLst/>
            <a:rect l="l" t="t" r="r" b="b"/>
            <a:pathLst>
              <a:path w="5760085" h="216535">
                <a:moveTo>
                  <a:pt x="5759996" y="0"/>
                </a:moveTo>
                <a:lnTo>
                  <a:pt x="0" y="0"/>
                </a:lnTo>
                <a:lnTo>
                  <a:pt x="0" y="216001"/>
                </a:lnTo>
                <a:lnTo>
                  <a:pt x="5759996" y="216001"/>
                </a:lnTo>
                <a:lnTo>
                  <a:pt x="5759996" y="0"/>
                </a:lnTo>
                <a:close/>
              </a:path>
            </a:pathLst>
          </a:custGeom>
          <a:solidFill>
            <a:srgbClr val="1965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67297" y="3002489"/>
            <a:ext cx="1697355" cy="17399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800" dirty="0">
                <a:solidFill>
                  <a:srgbClr val="FCFAF7"/>
                </a:solidFill>
                <a:latin typeface="Arial"/>
                <a:cs typeface="Arial"/>
              </a:rPr>
              <a:t>M.</a:t>
            </a:r>
            <a:r>
              <a:rPr sz="800" spc="65" dirty="0">
                <a:solidFill>
                  <a:srgbClr val="FCFAF7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</a:rPr>
              <a:t>Kolla</a:t>
            </a:r>
            <a:r>
              <a:rPr sz="800" spc="285" dirty="0">
                <a:solidFill>
                  <a:srgbClr val="FCFAF7"/>
                </a:solidFill>
                <a:latin typeface="Arial"/>
                <a:cs typeface="Arial"/>
              </a:rPr>
              <a:t> 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</a:rPr>
              <a:t>|</a:t>
            </a:r>
            <a:r>
              <a:rPr sz="800" spc="290" dirty="0">
                <a:solidFill>
                  <a:srgbClr val="FCFAF7"/>
                </a:solidFill>
                <a:latin typeface="Arial"/>
                <a:cs typeface="Arial"/>
              </a:rPr>
              <a:t> 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  <a:hlinkClick r:id="rId5" action="ppaction://hlinksldjump"/>
              </a:rPr>
              <a:t>Retail</a:t>
            </a:r>
            <a:r>
              <a:rPr sz="800" spc="70" dirty="0">
                <a:solidFill>
                  <a:srgbClr val="FCFAF7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  <a:hlinkClick r:id="rId5" action="ppaction://hlinksldjump"/>
              </a:rPr>
              <a:t>Electricity</a:t>
            </a:r>
            <a:r>
              <a:rPr sz="800" spc="65" dirty="0">
                <a:solidFill>
                  <a:srgbClr val="FCFAF7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800" spc="-25" dirty="0">
                <a:solidFill>
                  <a:srgbClr val="FCFAF7"/>
                </a:solidFill>
                <a:latin typeface="Arial"/>
                <a:cs typeface="Arial"/>
                <a:hlinkClick r:id="rId5" action="ppaction://hlinksldjump"/>
              </a:rPr>
              <a:t>Sales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01335" y="3002489"/>
            <a:ext cx="391795" cy="17399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sz="800" dirty="0">
                <a:solidFill>
                  <a:srgbClr val="FCFAF7"/>
                </a:solidFill>
                <a:latin typeface="Arial"/>
                <a:cs typeface="Arial"/>
              </a:rPr>
              <a:t>10</a:t>
            </a:fld>
            <a:r>
              <a:rPr sz="800" spc="30" dirty="0">
                <a:solidFill>
                  <a:srgbClr val="FCFAF7"/>
                </a:solidFill>
                <a:latin typeface="Arial"/>
                <a:cs typeface="Arial"/>
              </a:rPr>
              <a:t> </a:t>
            </a:r>
            <a:r>
              <a:rPr sz="800" spc="195" dirty="0">
                <a:solidFill>
                  <a:srgbClr val="FCFAF7"/>
                </a:solidFill>
                <a:latin typeface="Arial"/>
                <a:cs typeface="Arial"/>
              </a:rPr>
              <a:t>/</a:t>
            </a:r>
            <a:r>
              <a:rPr sz="800" spc="35" dirty="0">
                <a:solidFill>
                  <a:srgbClr val="FCFAF7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FCFAF7"/>
                </a:solidFill>
                <a:latin typeface="Arial"/>
                <a:cs typeface="Arial"/>
              </a:rPr>
              <a:t>14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228864"/>
            <a:ext cx="3678606" cy="2891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25" dirty="0"/>
              <a:t>Interpretation</a:t>
            </a:r>
            <a:r>
              <a:rPr spc="40" dirty="0"/>
              <a:t> </a:t>
            </a:r>
            <a:r>
              <a:rPr dirty="0"/>
              <a:t>&amp;</a:t>
            </a:r>
            <a:r>
              <a:rPr spc="40" dirty="0"/>
              <a:t> </a:t>
            </a:r>
            <a:r>
              <a:rPr spc="-130" dirty="0"/>
              <a:t>Implications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533081"/>
            <a:ext cx="5400040" cy="33020"/>
            <a:chOff x="359994" y="533081"/>
            <a:chExt cx="5400040" cy="33020"/>
          </a:xfrm>
        </p:grpSpPr>
        <p:sp>
          <p:nvSpPr>
            <p:cNvPr id="4" name="object 4"/>
            <p:cNvSpPr/>
            <p:nvPr/>
          </p:nvSpPr>
          <p:spPr>
            <a:xfrm>
              <a:off x="359994" y="543880"/>
              <a:ext cx="5400040" cy="22225"/>
            </a:xfrm>
            <a:custGeom>
              <a:avLst/>
              <a:gdLst/>
              <a:ahLst/>
              <a:cxnLst/>
              <a:rect l="l" t="t" r="r" b="b"/>
              <a:pathLst>
                <a:path w="5400040" h="22225">
                  <a:moveTo>
                    <a:pt x="5400001" y="0"/>
                  </a:moveTo>
                  <a:lnTo>
                    <a:pt x="0" y="0"/>
                  </a:lnTo>
                  <a:lnTo>
                    <a:pt x="0" y="21599"/>
                  </a:lnTo>
                  <a:lnTo>
                    <a:pt x="5400001" y="21599"/>
                  </a:lnTo>
                  <a:lnTo>
                    <a:pt x="5400001" y="0"/>
                  </a:lnTo>
                  <a:close/>
                </a:path>
              </a:pathLst>
            </a:custGeom>
            <a:solidFill>
              <a:srgbClr val="1965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9994" y="533081"/>
              <a:ext cx="2592070" cy="10795"/>
            </a:xfrm>
            <a:custGeom>
              <a:avLst/>
              <a:gdLst/>
              <a:ahLst/>
              <a:cxnLst/>
              <a:rect l="l" t="t" r="r" b="b"/>
              <a:pathLst>
                <a:path w="2592070" h="10795">
                  <a:moveTo>
                    <a:pt x="0" y="10799"/>
                  </a:moveTo>
                  <a:lnTo>
                    <a:pt x="0" y="0"/>
                  </a:lnTo>
                  <a:lnTo>
                    <a:pt x="2592015" y="0"/>
                  </a:lnTo>
                  <a:lnTo>
                    <a:pt x="2592015" y="10799"/>
                  </a:lnTo>
                  <a:lnTo>
                    <a:pt x="0" y="10799"/>
                  </a:lnTo>
                  <a:close/>
                </a:path>
              </a:pathLst>
            </a:custGeom>
            <a:solidFill>
              <a:srgbClr val="F3A1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551" y="1207262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551" y="1417294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2551" y="1981365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2551" y="2191397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2551" y="2401430"/>
            <a:ext cx="65265" cy="6526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47294" y="870011"/>
            <a:ext cx="4949190" cy="164020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65" dirty="0">
                <a:solidFill>
                  <a:srgbClr val="1F2833"/>
                </a:solidFill>
                <a:latin typeface="Arial Black"/>
                <a:cs typeface="Arial Black"/>
              </a:rPr>
              <a:t>What</a:t>
            </a:r>
            <a:r>
              <a:rPr sz="1100" spc="45" dirty="0">
                <a:solidFill>
                  <a:srgbClr val="1F2833"/>
                </a:solidFill>
                <a:latin typeface="Arial Black"/>
                <a:cs typeface="Arial Black"/>
              </a:rPr>
              <a:t> </a:t>
            </a:r>
            <a:r>
              <a:rPr sz="1100" spc="-150" dirty="0">
                <a:solidFill>
                  <a:srgbClr val="1F2833"/>
                </a:solidFill>
                <a:latin typeface="Arial Black"/>
                <a:cs typeface="Arial Black"/>
              </a:rPr>
              <a:t>drives</a:t>
            </a:r>
            <a:r>
              <a:rPr sz="1100" spc="50" dirty="0">
                <a:solidFill>
                  <a:srgbClr val="1F2833"/>
                </a:solidFill>
                <a:latin typeface="Arial Black"/>
                <a:cs typeface="Arial Black"/>
              </a:rPr>
              <a:t> </a:t>
            </a:r>
            <a:r>
              <a:rPr sz="1100" spc="-135" dirty="0">
                <a:solidFill>
                  <a:srgbClr val="1F2833"/>
                </a:solidFill>
                <a:latin typeface="Arial Black"/>
                <a:cs typeface="Arial Black"/>
              </a:rPr>
              <a:t>electricity</a:t>
            </a:r>
            <a:r>
              <a:rPr sz="1100" spc="50" dirty="0">
                <a:solidFill>
                  <a:srgbClr val="1F2833"/>
                </a:solidFill>
                <a:latin typeface="Arial Black"/>
                <a:cs typeface="Arial Black"/>
              </a:rPr>
              <a:t> </a:t>
            </a:r>
            <a:r>
              <a:rPr sz="1100" spc="-20" dirty="0">
                <a:solidFill>
                  <a:srgbClr val="1F2833"/>
                </a:solidFill>
                <a:latin typeface="Arial Black"/>
                <a:cs typeface="Arial Black"/>
              </a:rPr>
              <a:t>use?</a:t>
            </a:r>
            <a:endParaRPr sz="1100">
              <a:latin typeface="Arial Black"/>
              <a:cs typeface="Arial Black"/>
            </a:endParaRPr>
          </a:p>
          <a:p>
            <a:pPr marL="289560" marR="1802130">
              <a:lnSpc>
                <a:spcPct val="125299"/>
              </a:lnSpc>
            </a:pPr>
            <a:r>
              <a:rPr sz="1100" spc="-20" dirty="0">
                <a:solidFill>
                  <a:srgbClr val="1F2833"/>
                </a:solidFill>
                <a:latin typeface="Tahoma"/>
                <a:cs typeface="Tahoma"/>
              </a:rPr>
              <a:t>Structural</a:t>
            </a: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F2833"/>
                </a:solidFill>
                <a:latin typeface="Tahoma"/>
                <a:cs typeface="Tahoma"/>
              </a:rPr>
              <a:t>factors:</a:t>
            </a:r>
            <a:r>
              <a:rPr sz="1100" spc="8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F2833"/>
                </a:solidFill>
                <a:latin typeface="Tahoma"/>
                <a:cs typeface="Tahoma"/>
              </a:rPr>
              <a:t>climate,</a:t>
            </a: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F2833"/>
                </a:solidFill>
                <a:latin typeface="Tahoma"/>
                <a:cs typeface="Tahoma"/>
              </a:rPr>
              <a:t>housing,</a:t>
            </a:r>
            <a:r>
              <a:rPr sz="1100" spc="-30" dirty="0">
                <a:solidFill>
                  <a:srgbClr val="1F2833"/>
                </a:solidFill>
                <a:latin typeface="Tahoma"/>
                <a:cs typeface="Tahoma"/>
              </a:rPr>
              <a:t> industry</a:t>
            </a: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 mix </a:t>
            </a: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Region</a:t>
            </a:r>
            <a:r>
              <a:rPr sz="1100" spc="-40" dirty="0">
                <a:solidFill>
                  <a:srgbClr val="1F2833"/>
                </a:solidFill>
                <a:latin typeface="Tahoma"/>
                <a:cs typeface="Tahoma"/>
              </a:rPr>
              <a:t> and</a:t>
            </a: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F2833"/>
                </a:solidFill>
                <a:latin typeface="Tahoma"/>
                <a:cs typeface="Tahoma"/>
              </a:rPr>
              <a:t>sector</a:t>
            </a: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 explain </a:t>
            </a:r>
            <a:r>
              <a:rPr sz="1100" spc="-20" dirty="0">
                <a:solidFill>
                  <a:srgbClr val="1F2833"/>
                </a:solidFill>
                <a:latin typeface="Tahoma"/>
                <a:cs typeface="Tahoma"/>
              </a:rPr>
              <a:t>far</a:t>
            </a: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F2833"/>
                </a:solidFill>
                <a:latin typeface="Tahoma"/>
                <a:cs typeface="Tahoma"/>
              </a:rPr>
              <a:t>more</a:t>
            </a: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F2833"/>
                </a:solidFill>
                <a:latin typeface="Tahoma"/>
                <a:cs typeface="Tahoma"/>
              </a:rPr>
              <a:t>than</a:t>
            </a: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F2833"/>
                </a:solidFill>
                <a:latin typeface="Tahoma"/>
                <a:cs typeface="Tahoma"/>
              </a:rPr>
              <a:t>time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100" spc="-125" dirty="0">
                <a:solidFill>
                  <a:srgbClr val="1F2833"/>
                </a:solidFill>
                <a:latin typeface="Arial Black"/>
                <a:cs typeface="Arial Black"/>
              </a:rPr>
              <a:t>Policy</a:t>
            </a:r>
            <a:r>
              <a:rPr sz="1100" spc="40" dirty="0">
                <a:solidFill>
                  <a:srgbClr val="1F2833"/>
                </a:solidFill>
                <a:latin typeface="Arial Black"/>
                <a:cs typeface="Arial Black"/>
              </a:rPr>
              <a:t> </a:t>
            </a:r>
            <a:r>
              <a:rPr sz="1100" spc="-80" dirty="0">
                <a:solidFill>
                  <a:srgbClr val="1F2833"/>
                </a:solidFill>
                <a:latin typeface="Arial Black"/>
                <a:cs typeface="Arial Black"/>
              </a:rPr>
              <a:t>takeaways</a:t>
            </a:r>
            <a:endParaRPr sz="1100">
              <a:latin typeface="Arial Black"/>
              <a:cs typeface="Arial Black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sz="1100" spc="-20" dirty="0">
                <a:solidFill>
                  <a:srgbClr val="1F2833"/>
                </a:solidFill>
                <a:latin typeface="Tahoma"/>
                <a:cs typeface="Tahoma"/>
              </a:rPr>
              <a:t>South:</a:t>
            </a:r>
            <a:r>
              <a:rPr sz="1100" spc="2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F2833"/>
                </a:solidFill>
                <a:latin typeface="Tahoma"/>
                <a:cs typeface="Tahoma"/>
              </a:rPr>
              <a:t>plan</a:t>
            </a:r>
            <a:r>
              <a:rPr sz="1100" spc="-4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F2833"/>
                </a:solidFill>
                <a:latin typeface="Tahoma"/>
                <a:cs typeface="Tahoma"/>
              </a:rPr>
              <a:t>for</a:t>
            </a:r>
            <a:r>
              <a:rPr sz="1100" spc="-5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high</a:t>
            </a:r>
            <a:r>
              <a:rPr sz="1100" spc="-4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cooling</a:t>
            </a:r>
            <a:r>
              <a:rPr sz="1100" spc="-4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1F2833"/>
                </a:solidFill>
                <a:latin typeface="Tahoma"/>
                <a:cs typeface="Tahoma"/>
              </a:rPr>
              <a:t>demand</a:t>
            </a: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F2833"/>
                </a:solidFill>
                <a:latin typeface="Tahoma"/>
                <a:cs typeface="Tahoma"/>
              </a:rPr>
              <a:t>and</a:t>
            </a:r>
            <a:r>
              <a:rPr sz="1100" spc="-4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grid</a:t>
            </a:r>
            <a:r>
              <a:rPr sz="1100" spc="-5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resilience</a:t>
            </a:r>
            <a:endParaRPr sz="1100">
              <a:latin typeface="Tahoma"/>
              <a:cs typeface="Tahoma"/>
            </a:endParaRPr>
          </a:p>
          <a:p>
            <a:pPr marL="289560" marR="5080">
              <a:lnSpc>
                <a:spcPct val="125299"/>
              </a:lnSpc>
            </a:pP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Transportation:</a:t>
            </a:r>
            <a:r>
              <a:rPr sz="1100" spc="10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F2833"/>
                </a:solidFill>
                <a:latin typeface="Tahoma"/>
                <a:cs typeface="Tahoma"/>
              </a:rPr>
              <a:t>very</a:t>
            </a:r>
            <a:r>
              <a:rPr sz="1100" spc="-1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low</a:t>
            </a:r>
            <a:r>
              <a:rPr sz="1100" spc="-1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F2833"/>
                </a:solidFill>
                <a:latin typeface="Tahoma"/>
                <a:cs typeface="Tahoma"/>
              </a:rPr>
              <a:t>baseline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electricity</a:t>
            </a:r>
            <a:r>
              <a:rPr sz="1100" spc="-1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1F2833"/>
                </a:solidFill>
                <a:latin typeface="Tahoma"/>
                <a:cs typeface="Tahoma"/>
              </a:rPr>
              <a:t>use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1F2833"/>
                </a:solidFill>
                <a:latin typeface="Meiryo UI"/>
                <a:cs typeface="Meiryo UI"/>
              </a:rPr>
              <a:t>⇒</a:t>
            </a:r>
            <a:r>
              <a:rPr sz="1100" i="1" spc="-35" dirty="0">
                <a:solidFill>
                  <a:srgbClr val="1F2833"/>
                </a:solidFill>
                <a:latin typeface="Meiryo UI"/>
                <a:cs typeface="Meiryo UI"/>
              </a:rPr>
              <a:t> 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big</a:t>
            </a:r>
            <a:r>
              <a:rPr sz="1100" spc="-1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1F2833"/>
                </a:solidFill>
                <a:latin typeface="Tahoma"/>
                <a:cs typeface="Tahoma"/>
              </a:rPr>
              <a:t>headroom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F2833"/>
                </a:solidFill>
                <a:latin typeface="Tahoma"/>
                <a:cs typeface="Tahoma"/>
              </a:rPr>
              <a:t>for</a:t>
            </a:r>
            <a:r>
              <a:rPr sz="1100" spc="-1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F2833"/>
                </a:solidFill>
                <a:latin typeface="Tahoma"/>
                <a:cs typeface="Tahoma"/>
              </a:rPr>
              <a:t>EV</a:t>
            </a:r>
            <a:r>
              <a:rPr sz="1100" spc="-1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growth </a:t>
            </a: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Residential:</a:t>
            </a:r>
            <a:r>
              <a:rPr sz="1100" spc="8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critical</a:t>
            </a: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1F2833"/>
                </a:solidFill>
                <a:latin typeface="Tahoma"/>
                <a:cs typeface="Tahoma"/>
              </a:rPr>
              <a:t>sector</a:t>
            </a:r>
            <a:r>
              <a:rPr sz="1100" spc="-3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F2833"/>
                </a:solidFill>
                <a:latin typeface="Tahoma"/>
                <a:cs typeface="Tahoma"/>
              </a:rPr>
              <a:t>for</a:t>
            </a: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F2833"/>
                </a:solidFill>
                <a:latin typeface="Tahoma"/>
                <a:cs typeface="Tahoma"/>
              </a:rPr>
              <a:t>efficiency</a:t>
            </a: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programs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023997"/>
            <a:ext cx="5760085" cy="216535"/>
          </a:xfrm>
          <a:custGeom>
            <a:avLst/>
            <a:gdLst/>
            <a:ahLst/>
            <a:cxnLst/>
            <a:rect l="l" t="t" r="r" b="b"/>
            <a:pathLst>
              <a:path w="5760085" h="216535">
                <a:moveTo>
                  <a:pt x="5759996" y="0"/>
                </a:moveTo>
                <a:lnTo>
                  <a:pt x="0" y="0"/>
                </a:lnTo>
                <a:lnTo>
                  <a:pt x="0" y="216001"/>
                </a:lnTo>
                <a:lnTo>
                  <a:pt x="5759996" y="216001"/>
                </a:lnTo>
                <a:lnTo>
                  <a:pt x="5759996" y="0"/>
                </a:lnTo>
                <a:close/>
              </a:path>
            </a:pathLst>
          </a:custGeom>
          <a:solidFill>
            <a:srgbClr val="1965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67297" y="3002489"/>
            <a:ext cx="1697355" cy="17399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800" dirty="0">
                <a:solidFill>
                  <a:srgbClr val="FCFAF7"/>
                </a:solidFill>
                <a:latin typeface="Arial"/>
                <a:cs typeface="Arial"/>
              </a:rPr>
              <a:t>M.</a:t>
            </a:r>
            <a:r>
              <a:rPr sz="800" spc="65" dirty="0">
                <a:solidFill>
                  <a:srgbClr val="FCFAF7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</a:rPr>
              <a:t>Kolla</a:t>
            </a:r>
            <a:r>
              <a:rPr sz="800" spc="285" dirty="0">
                <a:solidFill>
                  <a:srgbClr val="FCFAF7"/>
                </a:solidFill>
                <a:latin typeface="Arial"/>
                <a:cs typeface="Arial"/>
              </a:rPr>
              <a:t> 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</a:rPr>
              <a:t>|</a:t>
            </a:r>
            <a:r>
              <a:rPr sz="800" spc="290" dirty="0">
                <a:solidFill>
                  <a:srgbClr val="FCFAF7"/>
                </a:solidFill>
                <a:latin typeface="Arial"/>
                <a:cs typeface="Arial"/>
              </a:rPr>
              <a:t> 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  <a:hlinkClick r:id="rId7" action="ppaction://hlinksldjump"/>
              </a:rPr>
              <a:t>Retail</a:t>
            </a:r>
            <a:r>
              <a:rPr sz="800" spc="70" dirty="0">
                <a:solidFill>
                  <a:srgbClr val="FCFAF7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  <a:hlinkClick r:id="rId7" action="ppaction://hlinksldjump"/>
              </a:rPr>
              <a:t>Electricity</a:t>
            </a:r>
            <a:r>
              <a:rPr sz="800" spc="65" dirty="0">
                <a:solidFill>
                  <a:srgbClr val="FCFAF7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800" spc="-25" dirty="0">
                <a:solidFill>
                  <a:srgbClr val="FCFAF7"/>
                </a:solidFill>
                <a:latin typeface="Arial"/>
                <a:cs typeface="Arial"/>
                <a:hlinkClick r:id="rId7" action="ppaction://hlinksldjump"/>
              </a:rPr>
              <a:t>Sales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01335" y="3002489"/>
            <a:ext cx="391795" cy="17399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sz="800" dirty="0">
                <a:solidFill>
                  <a:srgbClr val="FCFAF7"/>
                </a:solidFill>
                <a:latin typeface="Arial"/>
                <a:cs typeface="Arial"/>
              </a:rPr>
              <a:t>11</a:t>
            </a:fld>
            <a:r>
              <a:rPr sz="800" spc="30" dirty="0">
                <a:solidFill>
                  <a:srgbClr val="FCFAF7"/>
                </a:solidFill>
                <a:latin typeface="Arial"/>
                <a:cs typeface="Arial"/>
              </a:rPr>
              <a:t> </a:t>
            </a:r>
            <a:r>
              <a:rPr sz="800" spc="195" dirty="0">
                <a:solidFill>
                  <a:srgbClr val="FCFAF7"/>
                </a:solidFill>
                <a:latin typeface="Arial"/>
                <a:cs typeface="Arial"/>
              </a:rPr>
              <a:t>/</a:t>
            </a:r>
            <a:r>
              <a:rPr sz="800" spc="35" dirty="0">
                <a:solidFill>
                  <a:srgbClr val="FCFAF7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FCFAF7"/>
                </a:solidFill>
                <a:latin typeface="Arial"/>
                <a:cs typeface="Arial"/>
              </a:rPr>
              <a:t>14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40" dirty="0"/>
              <a:t>Limitations</a:t>
            </a:r>
            <a:r>
              <a:rPr spc="40" dirty="0"/>
              <a:t> </a:t>
            </a:r>
            <a:r>
              <a:rPr dirty="0"/>
              <a:t>&amp;</a:t>
            </a:r>
            <a:r>
              <a:rPr spc="45" dirty="0"/>
              <a:t> </a:t>
            </a:r>
            <a:r>
              <a:rPr spc="-130" dirty="0"/>
              <a:t>Next</a:t>
            </a:r>
            <a:r>
              <a:rPr spc="45" dirty="0"/>
              <a:t> </a:t>
            </a:r>
            <a:r>
              <a:rPr spc="-120" dirty="0"/>
              <a:t>Steps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533081"/>
            <a:ext cx="5400040" cy="33020"/>
            <a:chOff x="359994" y="533081"/>
            <a:chExt cx="5400040" cy="33020"/>
          </a:xfrm>
        </p:grpSpPr>
        <p:sp>
          <p:nvSpPr>
            <p:cNvPr id="4" name="object 4"/>
            <p:cNvSpPr/>
            <p:nvPr/>
          </p:nvSpPr>
          <p:spPr>
            <a:xfrm>
              <a:off x="359994" y="543880"/>
              <a:ext cx="5400040" cy="22225"/>
            </a:xfrm>
            <a:custGeom>
              <a:avLst/>
              <a:gdLst/>
              <a:ahLst/>
              <a:cxnLst/>
              <a:rect l="l" t="t" r="r" b="b"/>
              <a:pathLst>
                <a:path w="5400040" h="22225">
                  <a:moveTo>
                    <a:pt x="5400001" y="0"/>
                  </a:moveTo>
                  <a:lnTo>
                    <a:pt x="0" y="0"/>
                  </a:lnTo>
                  <a:lnTo>
                    <a:pt x="0" y="21599"/>
                  </a:lnTo>
                  <a:lnTo>
                    <a:pt x="5400001" y="21599"/>
                  </a:lnTo>
                  <a:lnTo>
                    <a:pt x="5400001" y="0"/>
                  </a:lnTo>
                  <a:close/>
                </a:path>
              </a:pathLst>
            </a:custGeom>
            <a:solidFill>
              <a:srgbClr val="1965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9994" y="533081"/>
              <a:ext cx="2592070" cy="10795"/>
            </a:xfrm>
            <a:custGeom>
              <a:avLst/>
              <a:gdLst/>
              <a:ahLst/>
              <a:cxnLst/>
              <a:rect l="l" t="t" r="r" b="b"/>
              <a:pathLst>
                <a:path w="2592070" h="10795">
                  <a:moveTo>
                    <a:pt x="0" y="10799"/>
                  </a:moveTo>
                  <a:lnTo>
                    <a:pt x="0" y="0"/>
                  </a:lnTo>
                  <a:lnTo>
                    <a:pt x="2592015" y="0"/>
                  </a:lnTo>
                  <a:lnTo>
                    <a:pt x="2592015" y="10799"/>
                  </a:lnTo>
                  <a:lnTo>
                    <a:pt x="0" y="10799"/>
                  </a:lnTo>
                  <a:close/>
                </a:path>
              </a:pathLst>
            </a:custGeom>
            <a:solidFill>
              <a:srgbClr val="F3A1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551" y="1207262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551" y="1417294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2551" y="1981365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2551" y="2191397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2551" y="2401430"/>
            <a:ext cx="65265" cy="6526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47294" y="870011"/>
            <a:ext cx="3518535" cy="164020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40" dirty="0">
                <a:solidFill>
                  <a:srgbClr val="1F2833"/>
                </a:solidFill>
                <a:latin typeface="Arial Black"/>
                <a:cs typeface="Arial Black"/>
              </a:rPr>
              <a:t>Limitations</a:t>
            </a:r>
            <a:endParaRPr sz="1100">
              <a:latin typeface="Arial Black"/>
              <a:cs typeface="Arial Black"/>
            </a:endParaRPr>
          </a:p>
          <a:p>
            <a:pPr marL="289560" marR="5080">
              <a:lnSpc>
                <a:spcPct val="125299"/>
              </a:lnSpc>
            </a:pPr>
            <a:r>
              <a:rPr sz="1100" spc="-45" dirty="0">
                <a:solidFill>
                  <a:srgbClr val="1F2833"/>
                </a:solidFill>
                <a:latin typeface="Tahoma"/>
                <a:cs typeface="Tahoma"/>
              </a:rPr>
              <a:t>State-</a:t>
            </a:r>
            <a:r>
              <a:rPr sz="1100" spc="-20" dirty="0">
                <a:solidFill>
                  <a:srgbClr val="1F2833"/>
                </a:solidFill>
                <a:latin typeface="Tahoma"/>
                <a:cs typeface="Tahoma"/>
              </a:rPr>
              <a:t>level</a:t>
            </a:r>
            <a:r>
              <a:rPr sz="1100" spc="-3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monthly </a:t>
            </a:r>
            <a:r>
              <a:rPr sz="1100" spc="-20" dirty="0">
                <a:solidFill>
                  <a:srgbClr val="1F2833"/>
                </a:solidFill>
                <a:latin typeface="Tahoma"/>
                <a:cs typeface="Tahoma"/>
              </a:rPr>
              <a:t>data</a:t>
            </a:r>
            <a:r>
              <a:rPr sz="1100" spc="-3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F2833"/>
                </a:solidFill>
                <a:latin typeface="Tahoma"/>
                <a:cs typeface="Tahoma"/>
              </a:rPr>
              <a:t>hides</a:t>
            </a:r>
            <a:r>
              <a:rPr sz="1100" spc="-30" dirty="0">
                <a:solidFill>
                  <a:srgbClr val="1F2833"/>
                </a:solidFill>
                <a:latin typeface="Tahoma"/>
                <a:cs typeface="Tahoma"/>
              </a:rPr>
              <a:t> local/day-</a:t>
            </a: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level</a:t>
            </a: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F2833"/>
                </a:solidFill>
                <a:latin typeface="Tahoma"/>
                <a:cs typeface="Tahoma"/>
              </a:rPr>
              <a:t>dynamics 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Missing</a:t>
            </a: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F2833"/>
                </a:solidFill>
                <a:latin typeface="Tahoma"/>
                <a:cs typeface="Tahoma"/>
              </a:rPr>
              <a:t>economic</a:t>
            </a: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85" dirty="0">
                <a:solidFill>
                  <a:srgbClr val="1F2833"/>
                </a:solidFill>
                <a:latin typeface="Tahoma"/>
                <a:cs typeface="Tahoma"/>
              </a:rPr>
              <a:t>&amp;</a:t>
            </a:r>
            <a:r>
              <a:rPr sz="1100" spc="-3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F2833"/>
                </a:solidFill>
                <a:latin typeface="Tahoma"/>
                <a:cs typeface="Tahoma"/>
              </a:rPr>
              <a:t>climate</a:t>
            </a:r>
            <a:r>
              <a:rPr sz="1100" spc="-2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covariates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100" spc="-114" dirty="0">
                <a:solidFill>
                  <a:srgbClr val="1F2833"/>
                </a:solidFill>
                <a:latin typeface="Arial Black"/>
                <a:cs typeface="Arial Black"/>
              </a:rPr>
              <a:t>Future</a:t>
            </a:r>
            <a:r>
              <a:rPr sz="1100" spc="35" dirty="0">
                <a:solidFill>
                  <a:srgbClr val="1F2833"/>
                </a:solidFill>
                <a:latin typeface="Arial Black"/>
                <a:cs typeface="Arial Black"/>
              </a:rPr>
              <a:t> </a:t>
            </a:r>
            <a:r>
              <a:rPr sz="1100" spc="-20" dirty="0">
                <a:solidFill>
                  <a:srgbClr val="1F2833"/>
                </a:solidFill>
                <a:latin typeface="Arial Black"/>
                <a:cs typeface="Arial Black"/>
              </a:rPr>
              <a:t>work</a:t>
            </a:r>
            <a:endParaRPr sz="1100">
              <a:latin typeface="Arial Black"/>
              <a:cs typeface="Arial Black"/>
            </a:endParaRPr>
          </a:p>
          <a:p>
            <a:pPr marL="289560" marR="1089025">
              <a:lnSpc>
                <a:spcPct val="125299"/>
              </a:lnSpc>
            </a:pPr>
            <a:r>
              <a:rPr sz="1100" dirty="0">
                <a:solidFill>
                  <a:srgbClr val="1F2833"/>
                </a:solidFill>
                <a:latin typeface="Tahoma"/>
                <a:cs typeface="Tahoma"/>
              </a:rPr>
              <a:t>Add</a:t>
            </a:r>
            <a:r>
              <a:rPr sz="1100" spc="-55" dirty="0">
                <a:solidFill>
                  <a:srgbClr val="1F2833"/>
                </a:solidFill>
                <a:latin typeface="Tahoma"/>
                <a:cs typeface="Tahoma"/>
              </a:rPr>
              <a:t> weather,</a:t>
            </a: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F2833"/>
                </a:solidFill>
                <a:latin typeface="Tahoma"/>
                <a:cs typeface="Tahoma"/>
              </a:rPr>
              <a:t>income, and</a:t>
            </a:r>
            <a:r>
              <a:rPr sz="1100" spc="-4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F2833"/>
                </a:solidFill>
                <a:latin typeface="Tahoma"/>
                <a:cs typeface="Tahoma"/>
              </a:rPr>
              <a:t>price</a:t>
            </a:r>
            <a:r>
              <a:rPr sz="1100" spc="-40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F2833"/>
                </a:solidFill>
                <a:latin typeface="Tahoma"/>
                <a:cs typeface="Tahoma"/>
              </a:rPr>
              <a:t>data 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Finer</a:t>
            </a:r>
            <a:r>
              <a:rPr sz="1100" spc="-1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F2833"/>
                </a:solidFill>
                <a:latin typeface="Tahoma"/>
                <a:cs typeface="Tahoma"/>
              </a:rPr>
              <a:t>spatial/temporal</a:t>
            </a:r>
            <a:r>
              <a:rPr sz="1100" spc="-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resolution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30"/>
              </a:spcBef>
            </a:pP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Track</a:t>
            </a:r>
            <a:r>
              <a:rPr sz="1100" spc="-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1F2833"/>
                </a:solidFill>
                <a:latin typeface="Tahoma"/>
                <a:cs typeface="Tahoma"/>
              </a:rPr>
              <a:t>transportation</a:t>
            </a:r>
            <a:r>
              <a:rPr sz="1100" spc="-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1F2833"/>
                </a:solidFill>
                <a:latin typeface="Tahoma"/>
                <a:cs typeface="Tahoma"/>
              </a:rPr>
              <a:t>electrification</a:t>
            </a:r>
            <a:r>
              <a:rPr sz="1100" spc="-5" dirty="0">
                <a:solidFill>
                  <a:srgbClr val="1F283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F2833"/>
                </a:solidFill>
                <a:latin typeface="Tahoma"/>
                <a:cs typeface="Tahoma"/>
              </a:rPr>
              <a:t>explicitly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023997"/>
            <a:ext cx="5760085" cy="216535"/>
          </a:xfrm>
          <a:custGeom>
            <a:avLst/>
            <a:gdLst/>
            <a:ahLst/>
            <a:cxnLst/>
            <a:rect l="l" t="t" r="r" b="b"/>
            <a:pathLst>
              <a:path w="5760085" h="216535">
                <a:moveTo>
                  <a:pt x="5759996" y="0"/>
                </a:moveTo>
                <a:lnTo>
                  <a:pt x="0" y="0"/>
                </a:lnTo>
                <a:lnTo>
                  <a:pt x="0" y="216001"/>
                </a:lnTo>
                <a:lnTo>
                  <a:pt x="5759996" y="216001"/>
                </a:lnTo>
                <a:lnTo>
                  <a:pt x="5759996" y="0"/>
                </a:lnTo>
                <a:close/>
              </a:path>
            </a:pathLst>
          </a:custGeom>
          <a:solidFill>
            <a:srgbClr val="1965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67297" y="3002489"/>
            <a:ext cx="1697355" cy="17399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800" dirty="0">
                <a:solidFill>
                  <a:srgbClr val="FCFAF7"/>
                </a:solidFill>
                <a:latin typeface="Arial"/>
                <a:cs typeface="Arial"/>
              </a:rPr>
              <a:t>M.</a:t>
            </a:r>
            <a:r>
              <a:rPr sz="800" spc="65" dirty="0">
                <a:solidFill>
                  <a:srgbClr val="FCFAF7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</a:rPr>
              <a:t>Kolla</a:t>
            </a:r>
            <a:r>
              <a:rPr sz="800" spc="285" dirty="0">
                <a:solidFill>
                  <a:srgbClr val="FCFAF7"/>
                </a:solidFill>
                <a:latin typeface="Arial"/>
                <a:cs typeface="Arial"/>
              </a:rPr>
              <a:t> 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</a:rPr>
              <a:t>|</a:t>
            </a:r>
            <a:r>
              <a:rPr sz="800" spc="290" dirty="0">
                <a:solidFill>
                  <a:srgbClr val="FCFAF7"/>
                </a:solidFill>
                <a:latin typeface="Arial"/>
                <a:cs typeface="Arial"/>
              </a:rPr>
              <a:t> 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  <a:hlinkClick r:id="rId7" action="ppaction://hlinksldjump"/>
              </a:rPr>
              <a:t>Retail</a:t>
            </a:r>
            <a:r>
              <a:rPr sz="800" spc="70" dirty="0">
                <a:solidFill>
                  <a:srgbClr val="FCFAF7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  <a:hlinkClick r:id="rId7" action="ppaction://hlinksldjump"/>
              </a:rPr>
              <a:t>Electricity</a:t>
            </a:r>
            <a:r>
              <a:rPr sz="800" spc="65" dirty="0">
                <a:solidFill>
                  <a:srgbClr val="FCFAF7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800" spc="-25" dirty="0">
                <a:solidFill>
                  <a:srgbClr val="FCFAF7"/>
                </a:solidFill>
                <a:latin typeface="Arial"/>
                <a:cs typeface="Arial"/>
                <a:hlinkClick r:id="rId7" action="ppaction://hlinksldjump"/>
              </a:rPr>
              <a:t>Sales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01335" y="3002489"/>
            <a:ext cx="391795" cy="17399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sz="800" dirty="0">
                <a:solidFill>
                  <a:srgbClr val="FCFAF7"/>
                </a:solidFill>
                <a:latin typeface="Arial"/>
                <a:cs typeface="Arial"/>
              </a:rPr>
              <a:t>12</a:t>
            </a:fld>
            <a:r>
              <a:rPr sz="800" spc="30" dirty="0">
                <a:solidFill>
                  <a:srgbClr val="FCFAF7"/>
                </a:solidFill>
                <a:latin typeface="Arial"/>
                <a:cs typeface="Arial"/>
              </a:rPr>
              <a:t> </a:t>
            </a:r>
            <a:r>
              <a:rPr sz="800" spc="195" dirty="0">
                <a:solidFill>
                  <a:srgbClr val="FCFAF7"/>
                </a:solidFill>
                <a:latin typeface="Arial"/>
                <a:cs typeface="Arial"/>
              </a:rPr>
              <a:t>/</a:t>
            </a:r>
            <a:r>
              <a:rPr sz="800" spc="35" dirty="0">
                <a:solidFill>
                  <a:srgbClr val="FCFAF7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FCFAF7"/>
                </a:solidFill>
                <a:latin typeface="Arial"/>
                <a:cs typeface="Arial"/>
              </a:rPr>
              <a:t>14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60" dirty="0"/>
              <a:t>References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533081"/>
            <a:ext cx="5400040" cy="33020"/>
            <a:chOff x="359994" y="533081"/>
            <a:chExt cx="5400040" cy="33020"/>
          </a:xfrm>
        </p:grpSpPr>
        <p:sp>
          <p:nvSpPr>
            <p:cNvPr id="4" name="object 4"/>
            <p:cNvSpPr/>
            <p:nvPr/>
          </p:nvSpPr>
          <p:spPr>
            <a:xfrm>
              <a:off x="359994" y="543880"/>
              <a:ext cx="5400040" cy="22225"/>
            </a:xfrm>
            <a:custGeom>
              <a:avLst/>
              <a:gdLst/>
              <a:ahLst/>
              <a:cxnLst/>
              <a:rect l="l" t="t" r="r" b="b"/>
              <a:pathLst>
                <a:path w="5400040" h="22225">
                  <a:moveTo>
                    <a:pt x="5400001" y="0"/>
                  </a:moveTo>
                  <a:lnTo>
                    <a:pt x="0" y="0"/>
                  </a:lnTo>
                  <a:lnTo>
                    <a:pt x="0" y="21599"/>
                  </a:lnTo>
                  <a:lnTo>
                    <a:pt x="5400001" y="21599"/>
                  </a:lnTo>
                  <a:lnTo>
                    <a:pt x="5400001" y="0"/>
                  </a:lnTo>
                  <a:close/>
                </a:path>
              </a:pathLst>
            </a:custGeom>
            <a:solidFill>
              <a:srgbClr val="1965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9994" y="533081"/>
              <a:ext cx="2592070" cy="10795"/>
            </a:xfrm>
            <a:custGeom>
              <a:avLst/>
              <a:gdLst/>
              <a:ahLst/>
              <a:cxnLst/>
              <a:rect l="l" t="t" r="r" b="b"/>
              <a:pathLst>
                <a:path w="2592070" h="10795">
                  <a:moveTo>
                    <a:pt x="0" y="10799"/>
                  </a:moveTo>
                  <a:lnTo>
                    <a:pt x="0" y="0"/>
                  </a:lnTo>
                  <a:lnTo>
                    <a:pt x="2592015" y="0"/>
                  </a:lnTo>
                  <a:lnTo>
                    <a:pt x="2592015" y="10799"/>
                  </a:lnTo>
                  <a:lnTo>
                    <a:pt x="0" y="10799"/>
                  </a:lnTo>
                  <a:close/>
                </a:path>
              </a:pathLst>
            </a:custGeom>
            <a:solidFill>
              <a:srgbClr val="F3A1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0095" y="1182328"/>
            <a:ext cx="114214" cy="11421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84339" y="1169408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0095" y="1372117"/>
            <a:ext cx="114214" cy="11421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0095" y="1561906"/>
            <a:ext cx="114214" cy="11421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0095" y="1751695"/>
            <a:ext cx="114214" cy="114214"/>
          </a:xfrm>
          <a:prstGeom prst="rect">
            <a:avLst/>
          </a:prstGeom>
        </p:spPr>
      </p:pic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460095" y="1296542"/>
          <a:ext cx="114300" cy="5302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92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600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T w="76200">
                      <a:solidFill>
                        <a:srgbClr val="FCFAF7"/>
                      </a:solidFill>
                      <a:prstDash val="solid"/>
                    </a:lnT>
                    <a:lnB w="76200">
                      <a:solidFill>
                        <a:srgbClr val="FCFAF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600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T w="76200">
                      <a:solidFill>
                        <a:srgbClr val="FCFAF7"/>
                      </a:solidFill>
                      <a:prstDash val="solid"/>
                    </a:lnT>
                    <a:lnB w="76200">
                      <a:solidFill>
                        <a:srgbClr val="FCFAF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7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600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T w="76200">
                      <a:solidFill>
                        <a:srgbClr val="FCFAF7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0095" y="2080663"/>
            <a:ext cx="114214" cy="11421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84339" y="2067730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54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>
                <a:latin typeface="Arial"/>
                <a:cs typeface="Arial"/>
              </a:rPr>
              <a:t>Hunter,</a:t>
            </a:r>
            <a:r>
              <a:rPr spc="3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J.</a:t>
            </a:r>
            <a:r>
              <a:rPr spc="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D.</a:t>
            </a:r>
            <a:r>
              <a:rPr spc="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(2007).</a:t>
            </a:r>
            <a:r>
              <a:rPr spc="130" dirty="0">
                <a:latin typeface="Arial"/>
                <a:cs typeface="Arial"/>
              </a:rPr>
              <a:t> </a:t>
            </a:r>
            <a:r>
              <a:rPr i="1" dirty="0">
                <a:latin typeface="Calibri"/>
                <a:cs typeface="Calibri"/>
              </a:rPr>
              <a:t>Matplotlib</a:t>
            </a:r>
            <a:r>
              <a:rPr dirty="0">
                <a:latin typeface="Arial"/>
                <a:cs typeface="Arial"/>
              </a:rPr>
              <a:t>.</a:t>
            </a:r>
            <a:r>
              <a:rPr spc="125" dirty="0">
                <a:latin typeface="Arial"/>
                <a:cs typeface="Arial"/>
              </a:rPr>
              <a:t> </a:t>
            </a:r>
            <a:r>
              <a:rPr spc="45" dirty="0">
                <a:hlinkClick r:id="rId7"/>
              </a:rPr>
              <a:t>https://doi.org/10.1109/MCSE.2007.55</a:t>
            </a:r>
          </a:p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pc="-20" dirty="0">
                <a:latin typeface="Arial"/>
                <a:cs typeface="Arial"/>
              </a:rPr>
              <a:t>McKinney,</a:t>
            </a:r>
            <a:r>
              <a:rPr spc="3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W.</a:t>
            </a:r>
            <a:r>
              <a:rPr spc="3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(2010).</a:t>
            </a:r>
            <a:r>
              <a:rPr spc="120" dirty="0">
                <a:latin typeface="Arial"/>
                <a:cs typeface="Arial"/>
              </a:rPr>
              <a:t> </a:t>
            </a:r>
            <a:r>
              <a:rPr i="1" dirty="0">
                <a:latin typeface="Calibri"/>
                <a:cs typeface="Calibri"/>
              </a:rPr>
              <a:t>pandas</a:t>
            </a:r>
            <a:r>
              <a:rPr dirty="0">
                <a:latin typeface="Arial"/>
                <a:cs typeface="Arial"/>
              </a:rPr>
              <a:t>.</a:t>
            </a:r>
            <a:r>
              <a:rPr spc="125" dirty="0">
                <a:latin typeface="Arial"/>
                <a:cs typeface="Arial"/>
              </a:rPr>
              <a:t> </a:t>
            </a:r>
            <a:r>
              <a:rPr spc="50" dirty="0">
                <a:hlinkClick r:id="rId8"/>
              </a:rPr>
              <a:t>https://pandas.pydata.org/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pc="-35" dirty="0">
                <a:latin typeface="Arial"/>
                <a:cs typeface="Arial"/>
              </a:rPr>
              <a:t>Seabold,</a:t>
            </a:r>
            <a:r>
              <a:rPr spc="13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S.,</a:t>
            </a:r>
            <a:r>
              <a:rPr spc="130" dirty="0">
                <a:latin typeface="Arial"/>
                <a:cs typeface="Arial"/>
              </a:rPr>
              <a:t> </a:t>
            </a:r>
            <a:r>
              <a:rPr spc="95" dirty="0">
                <a:latin typeface="Arial"/>
                <a:cs typeface="Arial"/>
              </a:rPr>
              <a:t>&amp;</a:t>
            </a:r>
            <a:r>
              <a:rPr spc="130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Perktold,</a:t>
            </a:r>
            <a:r>
              <a:rPr spc="1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J.</a:t>
            </a:r>
            <a:r>
              <a:rPr spc="13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(2010).</a:t>
            </a:r>
            <a:r>
              <a:rPr spc="254" dirty="0">
                <a:latin typeface="Arial"/>
                <a:cs typeface="Arial"/>
              </a:rPr>
              <a:t> </a:t>
            </a:r>
            <a:r>
              <a:rPr i="1" dirty="0">
                <a:latin typeface="Calibri"/>
                <a:cs typeface="Calibri"/>
              </a:rPr>
              <a:t>Statsmodels</a:t>
            </a:r>
            <a:r>
              <a:rPr dirty="0">
                <a:latin typeface="Arial"/>
                <a:cs typeface="Arial"/>
              </a:rPr>
              <a:t>.</a:t>
            </a:r>
            <a:r>
              <a:rPr spc="260" dirty="0">
                <a:latin typeface="Arial"/>
                <a:cs typeface="Arial"/>
              </a:rPr>
              <a:t> </a:t>
            </a:r>
            <a:r>
              <a:rPr spc="-10" dirty="0">
                <a:hlinkClick r:id="rId9"/>
              </a:rPr>
              <a:t>https://www.statsmodels.org/</a:t>
            </a: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pc="-10" dirty="0">
                <a:latin typeface="Arial"/>
                <a:cs typeface="Arial"/>
              </a:rPr>
              <a:t>U.S.</a:t>
            </a:r>
            <a:r>
              <a:rPr spc="30" dirty="0">
                <a:latin typeface="Arial"/>
                <a:cs typeface="Arial"/>
              </a:rPr>
              <a:t> </a:t>
            </a:r>
            <a:r>
              <a:rPr spc="-30" dirty="0">
                <a:latin typeface="Arial"/>
                <a:cs typeface="Arial"/>
              </a:rPr>
              <a:t>Energy</a:t>
            </a:r>
            <a:r>
              <a:rPr spc="3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Information</a:t>
            </a:r>
            <a:r>
              <a:rPr spc="3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Administration.</a:t>
            </a:r>
            <a:r>
              <a:rPr spc="13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(2024).</a:t>
            </a:r>
            <a:r>
              <a:rPr spc="125" dirty="0">
                <a:latin typeface="Arial"/>
                <a:cs typeface="Arial"/>
              </a:rPr>
              <a:t> </a:t>
            </a:r>
            <a:r>
              <a:rPr i="1" dirty="0">
                <a:latin typeface="Calibri"/>
                <a:cs typeface="Calibri"/>
              </a:rPr>
              <a:t>Retail</a:t>
            </a:r>
            <a:r>
              <a:rPr i="1" spc="7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electricity</a:t>
            </a:r>
            <a:r>
              <a:rPr i="1" spc="8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sales</a:t>
            </a:r>
            <a:r>
              <a:rPr i="1" spc="75" dirty="0">
                <a:latin typeface="Calibri"/>
                <a:cs typeface="Calibri"/>
              </a:rPr>
              <a:t> </a:t>
            </a:r>
            <a:r>
              <a:rPr i="1" spc="-10" dirty="0">
                <a:latin typeface="Calibri"/>
                <a:cs typeface="Calibri"/>
              </a:rPr>
              <a:t>data</a:t>
            </a:r>
            <a:r>
              <a:rPr spc="-10" dirty="0">
                <a:latin typeface="Arial"/>
                <a:cs typeface="Arial"/>
              </a:rPr>
              <a:t>.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" dirty="0">
                <a:hlinkClick r:id="rId10"/>
              </a:rPr>
              <a:t>https://www.eia.gov/</a:t>
            </a: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pc="-10" dirty="0">
                <a:latin typeface="Arial"/>
                <a:cs typeface="Arial"/>
              </a:rPr>
              <a:t>Virtanen,</a:t>
            </a:r>
            <a:r>
              <a:rPr spc="4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P.</a:t>
            </a:r>
            <a:r>
              <a:rPr spc="4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et</a:t>
            </a:r>
            <a:r>
              <a:rPr spc="4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al.</a:t>
            </a:r>
            <a:r>
              <a:rPr spc="14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(2020).</a:t>
            </a:r>
            <a:r>
              <a:rPr spc="145" dirty="0">
                <a:latin typeface="Arial"/>
                <a:cs typeface="Arial"/>
              </a:rPr>
              <a:t> </a:t>
            </a:r>
            <a:r>
              <a:rPr i="1" spc="50" dirty="0">
                <a:latin typeface="Calibri"/>
                <a:cs typeface="Calibri"/>
              </a:rPr>
              <a:t>SciPy</a:t>
            </a:r>
            <a:r>
              <a:rPr i="1" spc="8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1.0</a:t>
            </a:r>
            <a:r>
              <a:rPr dirty="0">
                <a:latin typeface="Arial"/>
                <a:cs typeface="Arial"/>
              </a:rPr>
              <a:t>.</a:t>
            </a:r>
            <a:r>
              <a:rPr spc="145" dirty="0">
                <a:latin typeface="Arial"/>
                <a:cs typeface="Arial"/>
              </a:rPr>
              <a:t> </a:t>
            </a:r>
            <a:r>
              <a:rPr spc="75" dirty="0">
                <a:hlinkClick r:id="rId11"/>
              </a:rPr>
              <a:t>https://doi.org/10.1038/s41592-</a:t>
            </a:r>
            <a:r>
              <a:rPr spc="70" dirty="0">
                <a:hlinkClick r:id="rId11"/>
              </a:rPr>
              <a:t>019-</a:t>
            </a:r>
            <a:r>
              <a:rPr spc="60" dirty="0">
                <a:hlinkClick r:id="rId11"/>
              </a:rPr>
              <a:t>0686-</a:t>
            </a:r>
            <a:r>
              <a:rPr spc="-50" dirty="0">
                <a:hlinkClick r:id="rId11"/>
              </a:rPr>
              <a:t>2</a:t>
            </a:r>
          </a:p>
        </p:txBody>
      </p:sp>
      <p:sp>
        <p:nvSpPr>
          <p:cNvPr id="15" name="object 15"/>
          <p:cNvSpPr/>
          <p:nvPr/>
        </p:nvSpPr>
        <p:spPr>
          <a:xfrm>
            <a:off x="0" y="3023997"/>
            <a:ext cx="5760085" cy="216535"/>
          </a:xfrm>
          <a:custGeom>
            <a:avLst/>
            <a:gdLst/>
            <a:ahLst/>
            <a:cxnLst/>
            <a:rect l="l" t="t" r="r" b="b"/>
            <a:pathLst>
              <a:path w="5760085" h="216535">
                <a:moveTo>
                  <a:pt x="5759996" y="0"/>
                </a:moveTo>
                <a:lnTo>
                  <a:pt x="0" y="0"/>
                </a:lnTo>
                <a:lnTo>
                  <a:pt x="0" y="216001"/>
                </a:lnTo>
                <a:lnTo>
                  <a:pt x="5759996" y="216001"/>
                </a:lnTo>
                <a:lnTo>
                  <a:pt x="5759996" y="0"/>
                </a:lnTo>
                <a:close/>
              </a:path>
            </a:pathLst>
          </a:custGeom>
          <a:solidFill>
            <a:srgbClr val="1965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67297" y="3002489"/>
            <a:ext cx="1697355" cy="17399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800" dirty="0">
                <a:solidFill>
                  <a:srgbClr val="FCFAF7"/>
                </a:solidFill>
                <a:latin typeface="Arial"/>
                <a:cs typeface="Arial"/>
              </a:rPr>
              <a:t>M.</a:t>
            </a:r>
            <a:r>
              <a:rPr sz="800" spc="65" dirty="0">
                <a:solidFill>
                  <a:srgbClr val="FCFAF7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</a:rPr>
              <a:t>Kolla</a:t>
            </a:r>
            <a:r>
              <a:rPr sz="800" spc="285" dirty="0">
                <a:solidFill>
                  <a:srgbClr val="FCFAF7"/>
                </a:solidFill>
                <a:latin typeface="Arial"/>
                <a:cs typeface="Arial"/>
              </a:rPr>
              <a:t> 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</a:rPr>
              <a:t>|</a:t>
            </a:r>
            <a:r>
              <a:rPr sz="800" spc="290" dirty="0">
                <a:solidFill>
                  <a:srgbClr val="FCFAF7"/>
                </a:solidFill>
                <a:latin typeface="Arial"/>
                <a:cs typeface="Arial"/>
              </a:rPr>
              <a:t> 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  <a:hlinkClick r:id="rId12" action="ppaction://hlinksldjump"/>
              </a:rPr>
              <a:t>Retail</a:t>
            </a:r>
            <a:r>
              <a:rPr sz="800" spc="70" dirty="0">
                <a:solidFill>
                  <a:srgbClr val="FCFAF7"/>
                </a:solidFill>
                <a:latin typeface="Arial"/>
                <a:cs typeface="Arial"/>
                <a:hlinkClick r:id="rId12" action="ppaction://hlinksldjump"/>
              </a:rPr>
              <a:t>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  <a:hlinkClick r:id="rId12" action="ppaction://hlinksldjump"/>
              </a:rPr>
              <a:t>Electricity</a:t>
            </a:r>
            <a:r>
              <a:rPr sz="800" spc="65" dirty="0">
                <a:solidFill>
                  <a:srgbClr val="FCFAF7"/>
                </a:solidFill>
                <a:latin typeface="Arial"/>
                <a:cs typeface="Arial"/>
                <a:hlinkClick r:id="rId12" action="ppaction://hlinksldjump"/>
              </a:rPr>
              <a:t> </a:t>
            </a:r>
            <a:r>
              <a:rPr sz="800" spc="-25" dirty="0">
                <a:solidFill>
                  <a:srgbClr val="FCFAF7"/>
                </a:solidFill>
                <a:latin typeface="Arial"/>
                <a:cs typeface="Arial"/>
                <a:hlinkClick r:id="rId12" action="ppaction://hlinksldjump"/>
              </a:rPr>
              <a:t>Sales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01335" y="3002489"/>
            <a:ext cx="391795" cy="17399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sz="800" dirty="0">
                <a:solidFill>
                  <a:srgbClr val="FCFAF7"/>
                </a:solidFill>
                <a:latin typeface="Arial"/>
                <a:cs typeface="Arial"/>
              </a:rPr>
              <a:t>13</a:t>
            </a:fld>
            <a:r>
              <a:rPr sz="800" spc="30" dirty="0">
                <a:solidFill>
                  <a:srgbClr val="FCFAF7"/>
                </a:solidFill>
                <a:latin typeface="Arial"/>
                <a:cs typeface="Arial"/>
              </a:rPr>
              <a:t> </a:t>
            </a:r>
            <a:r>
              <a:rPr sz="800" spc="195" dirty="0">
                <a:solidFill>
                  <a:srgbClr val="FCFAF7"/>
                </a:solidFill>
                <a:latin typeface="Arial"/>
                <a:cs typeface="Arial"/>
              </a:rPr>
              <a:t>/</a:t>
            </a:r>
            <a:r>
              <a:rPr sz="800" spc="35" dirty="0">
                <a:solidFill>
                  <a:srgbClr val="FCFAF7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FCFAF7"/>
                </a:solidFill>
                <a:latin typeface="Arial"/>
                <a:cs typeface="Arial"/>
              </a:rPr>
              <a:t>14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7294" y="228864"/>
            <a:ext cx="38417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50" dirty="0">
                <a:solidFill>
                  <a:srgbClr val="196519"/>
                </a:solidFill>
                <a:latin typeface="Arial Black"/>
                <a:cs typeface="Arial Black"/>
              </a:rPr>
              <a:t>Q&amp;A</a:t>
            </a:r>
            <a:endParaRPr sz="12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59994" y="533081"/>
            <a:ext cx="5400040" cy="33020"/>
            <a:chOff x="359994" y="533081"/>
            <a:chExt cx="5400040" cy="33020"/>
          </a:xfrm>
        </p:grpSpPr>
        <p:sp>
          <p:nvSpPr>
            <p:cNvPr id="4" name="object 4"/>
            <p:cNvSpPr/>
            <p:nvPr/>
          </p:nvSpPr>
          <p:spPr>
            <a:xfrm>
              <a:off x="359994" y="543880"/>
              <a:ext cx="5400040" cy="22225"/>
            </a:xfrm>
            <a:custGeom>
              <a:avLst/>
              <a:gdLst/>
              <a:ahLst/>
              <a:cxnLst/>
              <a:rect l="l" t="t" r="r" b="b"/>
              <a:pathLst>
                <a:path w="5400040" h="22225">
                  <a:moveTo>
                    <a:pt x="5400001" y="0"/>
                  </a:moveTo>
                  <a:lnTo>
                    <a:pt x="0" y="0"/>
                  </a:lnTo>
                  <a:lnTo>
                    <a:pt x="0" y="21599"/>
                  </a:lnTo>
                  <a:lnTo>
                    <a:pt x="5400001" y="21599"/>
                  </a:lnTo>
                  <a:lnTo>
                    <a:pt x="5400001" y="0"/>
                  </a:lnTo>
                  <a:close/>
                </a:path>
              </a:pathLst>
            </a:custGeom>
            <a:solidFill>
              <a:srgbClr val="1965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9994" y="533081"/>
              <a:ext cx="2592070" cy="10795"/>
            </a:xfrm>
            <a:custGeom>
              <a:avLst/>
              <a:gdLst/>
              <a:ahLst/>
              <a:cxnLst/>
              <a:rect l="l" t="t" r="r" b="b"/>
              <a:pathLst>
                <a:path w="2592070" h="10795">
                  <a:moveTo>
                    <a:pt x="0" y="10799"/>
                  </a:moveTo>
                  <a:lnTo>
                    <a:pt x="0" y="0"/>
                  </a:lnTo>
                  <a:lnTo>
                    <a:pt x="2592015" y="0"/>
                  </a:lnTo>
                  <a:lnTo>
                    <a:pt x="2592015" y="10799"/>
                  </a:lnTo>
                  <a:lnTo>
                    <a:pt x="0" y="10799"/>
                  </a:lnTo>
                  <a:close/>
                </a:path>
              </a:pathLst>
            </a:custGeom>
            <a:solidFill>
              <a:srgbClr val="F3A1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358148" y="1375204"/>
            <a:ext cx="1043940" cy="551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1F2833"/>
                </a:solidFill>
                <a:latin typeface="Trebuchet MS"/>
                <a:cs typeface="Trebuchet MS"/>
              </a:rPr>
              <a:t>Thank</a:t>
            </a:r>
            <a:r>
              <a:rPr sz="1400" spc="5" dirty="0">
                <a:solidFill>
                  <a:srgbClr val="1F2833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1F2833"/>
                </a:solidFill>
                <a:latin typeface="Trebuchet MS"/>
                <a:cs typeface="Trebuchet MS"/>
              </a:rPr>
              <a:t>you!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1100" spc="-75" dirty="0">
                <a:solidFill>
                  <a:srgbClr val="1F2833"/>
                </a:solidFill>
                <a:latin typeface="Palatino Linotype"/>
                <a:cs typeface="Palatino Linotype"/>
              </a:rPr>
              <a:t>Any</a:t>
            </a:r>
            <a:r>
              <a:rPr sz="1100" spc="120" dirty="0">
                <a:solidFill>
                  <a:srgbClr val="1F2833"/>
                </a:solidFill>
                <a:latin typeface="Palatino Linotype"/>
                <a:cs typeface="Palatino Linotype"/>
              </a:rPr>
              <a:t> </a:t>
            </a:r>
            <a:r>
              <a:rPr sz="1100" spc="-10" dirty="0">
                <a:solidFill>
                  <a:srgbClr val="1F2833"/>
                </a:solidFill>
                <a:latin typeface="Palatino Linotype"/>
                <a:cs typeface="Palatino Linotype"/>
              </a:rPr>
              <a:t>Questions?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023997"/>
            <a:ext cx="5760085" cy="216535"/>
          </a:xfrm>
          <a:custGeom>
            <a:avLst/>
            <a:gdLst/>
            <a:ahLst/>
            <a:cxnLst/>
            <a:rect l="l" t="t" r="r" b="b"/>
            <a:pathLst>
              <a:path w="5760085" h="216535">
                <a:moveTo>
                  <a:pt x="5759996" y="0"/>
                </a:moveTo>
                <a:lnTo>
                  <a:pt x="0" y="0"/>
                </a:lnTo>
                <a:lnTo>
                  <a:pt x="0" y="216001"/>
                </a:lnTo>
                <a:lnTo>
                  <a:pt x="5759996" y="216001"/>
                </a:lnTo>
                <a:lnTo>
                  <a:pt x="5759996" y="0"/>
                </a:lnTo>
                <a:close/>
              </a:path>
            </a:pathLst>
          </a:custGeom>
          <a:solidFill>
            <a:srgbClr val="1965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67297" y="3002489"/>
            <a:ext cx="1697355" cy="17399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800" dirty="0">
                <a:solidFill>
                  <a:srgbClr val="FCFAF7"/>
                </a:solidFill>
                <a:latin typeface="Arial"/>
                <a:cs typeface="Arial"/>
              </a:rPr>
              <a:t>M.</a:t>
            </a:r>
            <a:r>
              <a:rPr sz="800" spc="65" dirty="0">
                <a:solidFill>
                  <a:srgbClr val="FCFAF7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</a:rPr>
              <a:t>Kolla</a:t>
            </a:r>
            <a:r>
              <a:rPr sz="800" spc="285" dirty="0">
                <a:solidFill>
                  <a:srgbClr val="FCFAF7"/>
                </a:solidFill>
                <a:latin typeface="Arial"/>
                <a:cs typeface="Arial"/>
              </a:rPr>
              <a:t> 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</a:rPr>
              <a:t>|</a:t>
            </a:r>
            <a:r>
              <a:rPr sz="800" spc="290" dirty="0">
                <a:solidFill>
                  <a:srgbClr val="FCFAF7"/>
                </a:solidFill>
                <a:latin typeface="Arial"/>
                <a:cs typeface="Arial"/>
              </a:rPr>
              <a:t> 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  <a:hlinkClick r:id="rId2" action="ppaction://hlinksldjump"/>
              </a:rPr>
              <a:t>Retail</a:t>
            </a:r>
            <a:r>
              <a:rPr sz="800" spc="70" dirty="0">
                <a:solidFill>
                  <a:srgbClr val="FCFAF7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800" dirty="0">
                <a:solidFill>
                  <a:srgbClr val="FCFAF7"/>
                </a:solidFill>
                <a:latin typeface="Arial"/>
                <a:cs typeface="Arial"/>
                <a:hlinkClick r:id="rId2" action="ppaction://hlinksldjump"/>
              </a:rPr>
              <a:t>Electricity</a:t>
            </a:r>
            <a:r>
              <a:rPr sz="800" spc="65" dirty="0">
                <a:solidFill>
                  <a:srgbClr val="FCFAF7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800" spc="-25" dirty="0">
                <a:solidFill>
                  <a:srgbClr val="FCFAF7"/>
                </a:solidFill>
                <a:latin typeface="Arial"/>
                <a:cs typeface="Arial"/>
                <a:hlinkClick r:id="rId2" action="ppaction://hlinksldjump"/>
              </a:rPr>
              <a:t>Sales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01335" y="3002489"/>
            <a:ext cx="391795" cy="17399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sz="800" dirty="0">
                <a:solidFill>
                  <a:srgbClr val="FCFAF7"/>
                </a:solidFill>
                <a:latin typeface="Arial"/>
                <a:cs typeface="Arial"/>
              </a:rPr>
              <a:t>14</a:t>
            </a:fld>
            <a:r>
              <a:rPr sz="800" spc="30" dirty="0">
                <a:solidFill>
                  <a:srgbClr val="FCFAF7"/>
                </a:solidFill>
                <a:latin typeface="Arial"/>
                <a:cs typeface="Arial"/>
              </a:rPr>
              <a:t> </a:t>
            </a:r>
            <a:r>
              <a:rPr sz="800" spc="195" dirty="0">
                <a:solidFill>
                  <a:srgbClr val="FCFAF7"/>
                </a:solidFill>
                <a:latin typeface="Arial"/>
                <a:cs typeface="Arial"/>
              </a:rPr>
              <a:t>/</a:t>
            </a:r>
            <a:r>
              <a:rPr sz="800" spc="35" dirty="0">
                <a:solidFill>
                  <a:srgbClr val="FCFAF7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FCFAF7"/>
                </a:solidFill>
                <a:latin typeface="Arial"/>
                <a:cs typeface="Arial"/>
              </a:rPr>
              <a:t>14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entury Schoolbook">
      <a:majorFont>
        <a:latin typeface="Century Schoolbook" panose="02040604050505020304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</TotalTime>
  <Words>764</Words>
  <Application>Microsoft Office PowerPoint</Application>
  <PresentationFormat>Custom</PresentationFormat>
  <Paragraphs>125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Meiryo UI</vt:lpstr>
      <vt:lpstr>Arial</vt:lpstr>
      <vt:lpstr>Arial Black</vt:lpstr>
      <vt:lpstr>Baskerville Old Face</vt:lpstr>
      <vt:lpstr>Bookman Old Style</vt:lpstr>
      <vt:lpstr>Calibri</vt:lpstr>
      <vt:lpstr>Georgia</vt:lpstr>
      <vt:lpstr>Palatino Linotype</vt:lpstr>
      <vt:lpstr>Tahoma</vt:lpstr>
      <vt:lpstr>Trebuchet MS</vt:lpstr>
      <vt:lpstr>Office Theme</vt:lpstr>
      <vt:lpstr>Statistical Analysis of Retail Electricity Sales in the U.S.</vt:lpstr>
      <vt:lpstr>Research Questions &amp; Motivation</vt:lpstr>
      <vt:lpstr>Data &amp; Preparation</vt:lpstr>
      <vt:lpstr>Exploratory Data Overview</vt:lpstr>
      <vt:lpstr>Overall Temporal Pattern</vt:lpstr>
      <vt:lpstr>Regional Differences</vt:lpstr>
      <vt:lpstr>Sector Differences</vt:lpstr>
      <vt:lpstr>Regional Time Series: South vs West</vt:lpstr>
      <vt:lpstr>Regression Model &amp; Key Results</vt:lpstr>
      <vt:lpstr>Why Log Transformation?</vt:lpstr>
      <vt:lpstr>Interpretation &amp; Implications</vt:lpstr>
      <vt:lpstr>Limitations &amp; Next Steps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Statistical Analysis of Retail Electricity Sales in the U.S. - Multiregional, Multisector Time Series (2014–2024)</dc:title>
  <dc:creator>Mohankrishna Kolla</dc:creator>
  <cp:lastModifiedBy>Mohan Kolla</cp:lastModifiedBy>
  <cp:revision>1</cp:revision>
  <dcterms:created xsi:type="dcterms:W3CDTF">2025-12-04T15:22:17Z</dcterms:created>
  <dcterms:modified xsi:type="dcterms:W3CDTF">2025-12-04T17:48:23Z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2025-12-04T00:00:00Z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2025-12-04T00:00:00Z</vt:filetime>
  </property>
  <property fmtid="{D5CDD505-2E9C-101B-9397-08002B2CF9AE}" pid="5" name="PTEX.Fullbanner">
    <vt:lpwstr>This is pdfTeX, Version 3.141592653-2.6-1.40.27 (TeX Live 2025) kpathsea version 6.4.1</vt:lpwstr>
  </property>
  <property fmtid="{D5CDD505-2E9C-101B-9397-08002B2CF9AE}" pid="6" name="Producer">
    <vt:lpwstr>pdfTeX-1.40.27</vt:lpwstr>
  </property>
</Properties>
</file>